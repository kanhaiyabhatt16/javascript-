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28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2814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86200" y="640080"/>
            <a:ext cx="1371600" cy="1371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86200" y="640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1A2E"/>
                </a:solidFill>
              </a:rPr>
              <a:t>JS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JavaScript Complete Notes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A623"/>
                </a:solidFill>
              </a:rPr>
              <a:t>From Basics to Advanced — Master JavaScript Step by Step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9AA"/>
                </a:solidFill>
              </a:rPr>
              <a:t>Complete Notes with Real-Time Examples &amp; Practice Questions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6160" y="457200"/>
            <a:ext cx="2011680" cy="20116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566160" y="4572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Introduction to JavaScript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A623"/>
                </a:solidFill>
              </a:rPr>
              <a:t>History • How JS Works • Variables • Data Types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JavaScript?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1. </a:t>
            </a:r>
            <a:r>
              <a:rPr lang="en-US" sz="1300" dirty="0">
                <a:solidFill>
                  <a:srgbClr val="FFFFFF"/>
                </a:solidFill>
              </a:rPr>
              <a:t>JavaScript is a lightweight, interpreted, high-level programming language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2. </a:t>
            </a:r>
            <a:r>
              <a:rPr lang="en-US" sz="1300" dirty="0">
                <a:solidFill>
                  <a:srgbClr val="FFFFFF"/>
                </a:solidFill>
              </a:rPr>
              <a:t>Created by Brendan Eich in 1995 (originally named Mocha, then LiveScript)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3. </a:t>
            </a:r>
            <a:r>
              <a:rPr lang="en-US" sz="1300" dirty="0">
                <a:solidFill>
                  <a:srgbClr val="FFFFFF"/>
                </a:solidFill>
              </a:rPr>
              <a:t>Originally designed to add interactivity to web pages in Netscape Navigator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4. </a:t>
            </a:r>
            <a:r>
              <a:rPr lang="en-US" sz="1300" dirty="0">
                <a:solidFill>
                  <a:srgbClr val="FFFFFF"/>
                </a:solidFill>
              </a:rPr>
              <a:t>Now used for Front-End (browser), Back-End (Node.js), Mobile (React Native), Desktop (Electron)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5. </a:t>
            </a:r>
            <a:r>
              <a:rPr lang="en-US" sz="1300" dirty="0">
                <a:solidFill>
                  <a:srgbClr val="FFFFFF"/>
                </a:solidFill>
              </a:rPr>
              <a:t>JavaScript follows the ECMAScript specification (ES5, ES6/ES2015, ES2020+)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6. </a:t>
            </a:r>
            <a:r>
              <a:rPr lang="en-US" sz="1300" dirty="0">
                <a:solidFill>
                  <a:srgbClr val="FFFFFF"/>
                </a:solidFill>
              </a:rPr>
              <a:t>It is single-threaded but uses event loop for asynchronous operations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7. </a:t>
            </a:r>
            <a:r>
              <a:rPr lang="en-US" sz="1300" dirty="0">
                <a:solidFill>
                  <a:srgbClr val="FFFFFF"/>
                </a:solidFill>
              </a:rPr>
              <a:t>JavaScript engines: V8 (Chrome/Node), SpiderMonkey (Firefox), JavaScriptCore (Safari)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8. </a:t>
            </a:r>
            <a:r>
              <a:rPr lang="en-US" sz="1300" dirty="0">
                <a:solidFill>
                  <a:srgbClr val="FFFFFF"/>
                </a:solidFill>
              </a:rPr>
              <a:t>World's most popular programming language (StackOverflow survey 2024)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How JavaScript Works — Execution Context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1. </a:t>
            </a:r>
            <a:r>
              <a:rPr lang="en-US" sz="1300" dirty="0">
                <a:solidFill>
                  <a:srgbClr val="FFFFFF"/>
                </a:solidFill>
              </a:rPr>
              <a:t>JS code runs inside an Execution Context — a container for code evaluation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2. </a:t>
            </a:r>
            <a:r>
              <a:rPr lang="en-US" sz="1300" dirty="0">
                <a:solidFill>
                  <a:srgbClr val="FFFFFF"/>
                </a:solidFill>
              </a:rPr>
              <a:t>Global Execution Context (GEC): created first, contains global variables &amp; functions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3. </a:t>
            </a:r>
            <a:r>
              <a:rPr lang="en-US" sz="1300" dirty="0">
                <a:solidFill>
                  <a:srgbClr val="FFFFFF"/>
                </a:solidFill>
              </a:rPr>
              <a:t>Function Execution Context (FEC): created every time a function is called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4. </a:t>
            </a:r>
            <a:r>
              <a:rPr lang="en-US" sz="1300" dirty="0">
                <a:solidFill>
                  <a:srgbClr val="FFFFFF"/>
                </a:solidFill>
              </a:rPr>
              <a:t>Call Stack: LIFO structure that tracks active execution contexts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5. </a:t>
            </a:r>
            <a:r>
              <a:rPr lang="en-US" sz="1300" dirty="0">
                <a:solidFill>
                  <a:srgbClr val="FFFFFF"/>
                </a:solidFill>
              </a:rPr>
              <a:t>Memory Creation Phase: variables set to undefined, functions stored fully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6. </a:t>
            </a:r>
            <a:r>
              <a:rPr lang="en-US" sz="1300" dirty="0">
                <a:solidFill>
                  <a:srgbClr val="FFFFFF"/>
                </a:solidFill>
              </a:rPr>
              <a:t>Code Execution Phase: actual values assigned, function calls pushed to stack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7. </a:t>
            </a:r>
            <a:r>
              <a:rPr lang="en-US" sz="1300" dirty="0">
                <a:solidFill>
                  <a:srgbClr val="FFFFFF"/>
                </a:solidFill>
              </a:rPr>
              <a:t>Hoisting: variable &amp; function declarations moved to top of scope during memory phase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8. </a:t>
            </a:r>
            <a:r>
              <a:rPr lang="en-US" sz="1300" dirty="0">
                <a:solidFill>
                  <a:srgbClr val="FFFFFF"/>
                </a:solidFill>
              </a:rPr>
              <a:t>JavaScript Engine compiles JS to bytecode using Just-In-Time (JIT) compilation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⚡ Variables — var, let, const (Real Example)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</a:rPr>
              <a:t>Declare variables in different ways and understand their scope behavior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5440680" cy="3383280"/>
          </a:xfrm>
          <a:prstGeom prst="roundRect">
            <a:avLst>
              <a:gd name="adj" fmla="val 189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78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4D56"/>
                </a:solidFill>
              </a:rPr>
              <a:t>// Code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5166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var — function scoped, hoisted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userName = "Rahul";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age = 25;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let — block scoped, not hoisted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city = "Delhi";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 = "Mumbai";   // reassignable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 — block scoped, not reassignable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PI = 3.14159;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 = 3;  ← Error!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var hoisting example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console.log(x); // undefined (hoisted)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x = 10;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console.log(x); // 10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Temporal dead zone (let/const)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console.log(y); // ReferenceError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 = 20;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console.log(y);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06440" y="1005840"/>
            <a:ext cx="3154680" cy="3383280"/>
          </a:xfrm>
          <a:prstGeom prst="roundRect">
            <a:avLst>
              <a:gd name="adj" fmla="val 2029"/>
            </a:avLst>
          </a:prstGeom>
          <a:solidFill>
            <a:srgbClr val="0D2137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07899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</a:rPr>
              <a:t>▶ OUTPUT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371600"/>
            <a:ext cx="2880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var is function-scoped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let/const are block-scoped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const must be initialized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TDZ: let/const not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accessible before declaration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JavaScript Data Types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685800"/>
            <a:ext cx="4206240" cy="4297680"/>
          </a:xfrm>
          <a:prstGeom prst="roundRect">
            <a:avLst>
              <a:gd name="adj" fmla="val 2174"/>
            </a:avLst>
          </a:prstGeom>
          <a:solidFill>
            <a:srgbClr val="16213E"/>
          </a:solidFill>
          <a:ln w="12700">
            <a:solidFill>
              <a:srgbClr val="2A3F6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7498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</a:rPr>
              <a:t>Primitive Types (7 types)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94560"/>
                </a:solidFill>
              </a:rPr>
              <a:t>• </a:t>
            </a:r>
            <a:r>
              <a:rPr lang="en-US" sz="1200" dirty="0">
                <a:solidFill>
                  <a:srgbClr val="FFFFFF"/>
                </a:solidFill>
              </a:rPr>
              <a:t>String: 'Hello', "World", `template`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94560"/>
                </a:solidFill>
              </a:rPr>
              <a:t>• </a:t>
            </a:r>
            <a:r>
              <a:rPr lang="en-US" sz="1200" dirty="0">
                <a:solidFill>
                  <a:srgbClr val="FFFFFF"/>
                </a:solidFill>
              </a:rPr>
              <a:t>Number: 42, 3.14, -7, NaN, Infinity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94560"/>
                </a:solidFill>
              </a:rPr>
              <a:t>• </a:t>
            </a:r>
            <a:r>
              <a:rPr lang="en-US" sz="1200" dirty="0">
                <a:solidFill>
                  <a:srgbClr val="FFFFFF"/>
                </a:solidFill>
              </a:rPr>
              <a:t>BigInt: 9007199254740991n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94560"/>
                </a:solidFill>
              </a:rPr>
              <a:t>• </a:t>
            </a:r>
            <a:r>
              <a:rPr lang="en-US" sz="1200" dirty="0">
                <a:solidFill>
                  <a:srgbClr val="FFFFFF"/>
                </a:solidFill>
              </a:rPr>
              <a:t>Boolean: true / false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94560"/>
                </a:solidFill>
              </a:rPr>
              <a:t>• </a:t>
            </a:r>
            <a:r>
              <a:rPr lang="en-US" sz="1200" dirty="0">
                <a:solidFill>
                  <a:srgbClr val="FFFFFF"/>
                </a:solidFill>
              </a:rPr>
              <a:t>Undefined: declared but not assigned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94560"/>
                </a:solidFill>
              </a:rPr>
              <a:t>• </a:t>
            </a:r>
            <a:r>
              <a:rPr lang="en-US" sz="1200" dirty="0">
                <a:solidFill>
                  <a:srgbClr val="FFFFFF"/>
                </a:solidFill>
              </a:rPr>
              <a:t>Null: intentional empty value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94560"/>
                </a:solidFill>
              </a:rPr>
              <a:t>• </a:t>
            </a:r>
            <a:r>
              <a:rPr lang="en-US" sz="1200" dirty="0">
                <a:solidFill>
                  <a:srgbClr val="FFFFFF"/>
                </a:solidFill>
              </a:rPr>
              <a:t>Symbol: unique identifier (ES6)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94560"/>
                </a:solidFill>
              </a:rPr>
              <a:t>• </a:t>
            </a:r>
            <a:r>
              <a:rPr lang="en-US" sz="1200" dirty="0">
                <a:solidFill>
                  <a:srgbClr val="FFFFFF"/>
                </a:solidFill>
              </a:rPr>
              <a:t>Primitive: stored by VALUE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685800"/>
            <a:ext cx="4206240" cy="4297680"/>
          </a:xfrm>
          <a:prstGeom prst="roundRect">
            <a:avLst>
              <a:gd name="adj" fmla="val 2174"/>
            </a:avLst>
          </a:prstGeom>
          <a:solidFill>
            <a:srgbClr val="16213E"/>
          </a:solidFill>
          <a:ln w="12700">
            <a:solidFill>
              <a:srgbClr val="2A3F6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7498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</a:rPr>
              <a:t>Reference Types (Objects)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14300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94560"/>
                </a:solidFill>
              </a:rPr>
              <a:t>• </a:t>
            </a:r>
            <a:r>
              <a:rPr lang="en-US" sz="1200" dirty="0">
                <a:solidFill>
                  <a:srgbClr val="FFFFFF"/>
                </a:solidFill>
              </a:rPr>
              <a:t>Object: { name: 'JS', version: 2024 }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94560"/>
                </a:solidFill>
              </a:rPr>
              <a:t>• </a:t>
            </a:r>
            <a:r>
              <a:rPr lang="en-US" sz="1200" dirty="0">
                <a:solidFill>
                  <a:srgbClr val="FFFFFF"/>
                </a:solidFill>
              </a:rPr>
              <a:t>Array: [1, 2, 3, 'hello']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94560"/>
                </a:solidFill>
              </a:rPr>
              <a:t>• </a:t>
            </a:r>
            <a:r>
              <a:rPr lang="en-US" sz="1200" dirty="0">
                <a:solidFill>
                  <a:srgbClr val="FFFFFF"/>
                </a:solidFill>
              </a:rPr>
              <a:t>Function: first-class citizens in JS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94560"/>
                </a:solidFill>
              </a:rPr>
              <a:t>• </a:t>
            </a:r>
            <a:r>
              <a:rPr lang="en-US" sz="1200" dirty="0">
                <a:solidFill>
                  <a:srgbClr val="FFFFFF"/>
                </a:solidFill>
              </a:rPr>
              <a:t>Date: new Date()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94560"/>
                </a:solidFill>
              </a:rPr>
              <a:t>• </a:t>
            </a:r>
            <a:r>
              <a:rPr lang="en-US" sz="1200" dirty="0">
                <a:solidFill>
                  <a:srgbClr val="FFFFFF"/>
                </a:solidFill>
              </a:rPr>
              <a:t>RegExp: /pattern/flags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94560"/>
                </a:solidFill>
              </a:rPr>
              <a:t>• </a:t>
            </a:r>
            <a:r>
              <a:rPr lang="en-US" sz="1200" dirty="0">
                <a:solidFill>
                  <a:srgbClr val="FFFFFF"/>
                </a:solidFill>
              </a:rPr>
              <a:t>Map: key-value pairs (any key type)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94560"/>
                </a:solidFill>
              </a:rPr>
              <a:t>• </a:t>
            </a:r>
            <a:r>
              <a:rPr lang="en-US" sz="1200" dirty="0">
                <a:solidFill>
                  <a:srgbClr val="FFFFFF"/>
                </a:solidFill>
              </a:rPr>
              <a:t>Set: collection of unique values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94560"/>
                </a:solidFill>
              </a:rPr>
              <a:t>• </a:t>
            </a:r>
            <a:r>
              <a:rPr lang="en-US" sz="1200" dirty="0">
                <a:solidFill>
                  <a:srgbClr val="FFFFFF"/>
                </a:solidFill>
              </a:rPr>
              <a:t>Reference types: stored by REFERENCE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⚡ Type Coercion &amp; typeof (Real World Example)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</a:rPr>
              <a:t>JavaScript automatically converts types — understanding this prevents bugs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5440680" cy="3383280"/>
          </a:xfrm>
          <a:prstGeom prst="roundRect">
            <a:avLst>
              <a:gd name="adj" fmla="val 189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78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4D56"/>
                </a:solidFill>
              </a:rPr>
              <a:t>// Code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5166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typeof operator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"hello");    // string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42);         // number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true);       // boolean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undefined);  // undefined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null);       // object (bug!)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[]);         // object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{});         // object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function(){}); // function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Implicit type coercion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console.log("5" + 3);   // "53" (concatenation)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console.log(5 - 3);   // 2   (subtraction)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console.log("5" * "2"); // 10  (numeric)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console.log(true + 1);  //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console.log(false + 1); // 1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Explicit conversion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str = String(42);      // "42"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 = Number("3.14");  // 3.14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bool = Boolean(0);     // false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06440" y="1005840"/>
            <a:ext cx="3154680" cy="3383280"/>
          </a:xfrm>
          <a:prstGeom prst="roundRect">
            <a:avLst>
              <a:gd name="adj" fmla="val 2029"/>
            </a:avLst>
          </a:prstGeom>
          <a:solidFill>
            <a:srgbClr val="0D2137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07899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</a:rPr>
              <a:t>▶ OUTPUT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371600"/>
            <a:ext cx="2880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"string"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"object"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"object"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"object"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"function"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"53"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"42"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📝 Practice Questions — Set 1 — Introduction &amp; Variables (Q1–Q15)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Q1. </a:t>
            </a:r>
            <a:r>
              <a:rPr lang="en-US" sz="1100" dirty="0">
                <a:solidFill>
                  <a:srgbClr val="FFFFFF"/>
                </a:solidFill>
              </a:rPr>
              <a:t>What is JavaScript and who created it? In which year was it created?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Q2. </a:t>
            </a:r>
            <a:r>
              <a:rPr lang="en-US" sz="1100" dirty="0">
                <a:solidFill>
                  <a:srgbClr val="FFFFFF"/>
                </a:solidFill>
              </a:rPr>
              <a:t>What is the difference between var, let, and const? Give examples.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Q3. </a:t>
            </a:r>
            <a:r>
              <a:rPr lang="en-US" sz="1100" dirty="0">
                <a:solidFill>
                  <a:srgbClr val="FFFFFF"/>
                </a:solidFill>
              </a:rPr>
              <a:t>Explain the concept of hoisting with a practical code example.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Q4. </a:t>
            </a:r>
            <a:r>
              <a:rPr lang="en-US" sz="1100" dirty="0">
                <a:solidFill>
                  <a:srgbClr val="FFFFFF"/>
                </a:solidFill>
              </a:rPr>
              <a:t>What are the 7 primitive data types in JavaScript?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Q5. </a:t>
            </a:r>
            <a:r>
              <a:rPr lang="en-US" sz="1100" dirty="0">
                <a:solidFill>
                  <a:srgbClr val="FFFFFF"/>
                </a:solidFill>
              </a:rPr>
              <a:t>What is Temporal Dead Zone (TDZ)? Which declarations are affected?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Q6. </a:t>
            </a:r>
            <a:r>
              <a:rPr lang="en-US" sz="1100" dirty="0">
                <a:solidFill>
                  <a:srgbClr val="FFFFFF"/>
                </a:solidFill>
              </a:rPr>
              <a:t>What does typeof null return and why is it considered a bug?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Q7. </a:t>
            </a:r>
            <a:r>
              <a:rPr lang="en-US" sz="1100" dirty="0">
                <a:solidFill>
                  <a:srgbClr val="FFFFFF"/>
                </a:solidFill>
              </a:rPr>
              <a:t>Explain the difference between undefined and null with examples.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Q8. </a:t>
            </a:r>
            <a:r>
              <a:rPr lang="en-US" sz="1100" dirty="0">
                <a:solidFill>
                  <a:srgbClr val="FFFFFF"/>
                </a:solidFill>
              </a:rPr>
              <a:t>What is type coercion? Give 3 examples of implicit type coercion.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Q9. </a:t>
            </a:r>
            <a:r>
              <a:rPr lang="en-US" sz="1100" dirty="0">
                <a:solidFill>
                  <a:srgbClr val="FFFFFF"/>
                </a:solidFill>
              </a:rPr>
              <a:t>What is the ECMAScript specification? Name 3 ES6 features.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Q10. </a:t>
            </a:r>
            <a:r>
              <a:rPr lang="en-US" sz="1100" dirty="0">
                <a:solidFill>
                  <a:srgbClr val="FFFFFF"/>
                </a:solidFill>
              </a:rPr>
              <a:t>Explain how the JavaScript Call Stack works with a function call example.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Q11. </a:t>
            </a:r>
            <a:r>
              <a:rPr lang="en-US" sz="1100" dirty="0">
                <a:solidFill>
                  <a:srgbClr val="FFFFFF"/>
                </a:solidFill>
              </a:rPr>
              <a:t>What is the difference between Global Execution Context and Function Execution Context?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Q12. </a:t>
            </a:r>
            <a:r>
              <a:rPr lang="en-US" sz="1100" dirty="0">
                <a:solidFill>
                  <a:srgbClr val="FFFFFF"/>
                </a:solidFill>
              </a:rPr>
              <a:t>Write code to convert string '42.5' to a number and a boolean.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Q13. </a:t>
            </a:r>
            <a:r>
              <a:rPr lang="en-US" sz="1100" dirty="0">
                <a:solidFill>
                  <a:srgbClr val="FFFFFF"/>
                </a:solidFill>
              </a:rPr>
              <a:t>What is the difference between == and === in JavaScript?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Q14. </a:t>
            </a:r>
            <a:r>
              <a:rPr lang="en-US" sz="1100" dirty="0">
                <a:solidFill>
                  <a:srgbClr val="FFFFFF"/>
                </a:solidFill>
              </a:rPr>
              <a:t>What will console.log(typeof [1,2,3]) output? Explain why.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Q15. </a:t>
            </a:r>
            <a:r>
              <a:rPr lang="en-US" sz="1100" dirty="0">
                <a:solidFill>
                  <a:srgbClr val="FFFFFF"/>
                </a:solidFill>
              </a:rPr>
              <a:t>What is NaN in JavaScript? How do you check if a value is NaN?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📝 Practice Questions — Set 1 — Introduction &amp; Variables (Q16–Q30)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Q16. </a:t>
            </a:r>
            <a:r>
              <a:rPr lang="en-US" sz="1100" dirty="0">
                <a:solidFill>
                  <a:srgbClr val="FFFFFF"/>
                </a:solidFill>
              </a:rPr>
              <a:t>Write a program that declares variables using all three (var, let, const) and demonstrates their scope.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Q17. </a:t>
            </a:r>
            <a:r>
              <a:rPr lang="en-US" sz="1100" dirty="0">
                <a:solidFill>
                  <a:srgbClr val="FFFFFF"/>
                </a:solidFill>
              </a:rPr>
              <a:t>What is BigInt? When would you use it?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Q18. </a:t>
            </a:r>
            <a:r>
              <a:rPr lang="en-US" sz="1100" dirty="0">
                <a:solidFill>
                  <a:srgbClr val="FFFFFF"/>
                </a:solidFill>
              </a:rPr>
              <a:t>Explain the difference between primitive types and reference types in memory.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Q19. </a:t>
            </a:r>
            <a:r>
              <a:rPr lang="en-US" sz="1100" dirty="0">
                <a:solidFill>
                  <a:srgbClr val="FFFFFF"/>
                </a:solidFill>
              </a:rPr>
              <a:t>What is the Symbol type used for in JavaScript?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Q20. </a:t>
            </a:r>
            <a:r>
              <a:rPr lang="en-US" sz="1100" dirty="0">
                <a:solidFill>
                  <a:srgbClr val="FFFFFF"/>
                </a:solidFill>
              </a:rPr>
              <a:t>What will the output be: console.log('10' - 5 + 3)? Explain step by step.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Q21. </a:t>
            </a:r>
            <a:r>
              <a:rPr lang="en-US" sz="1100" dirty="0">
                <a:solidFill>
                  <a:srgbClr val="FFFFFF"/>
                </a:solidFill>
              </a:rPr>
              <a:t>What is Just-In-Time (JIT) compilation in JavaScript?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Q22. </a:t>
            </a:r>
            <a:r>
              <a:rPr lang="en-US" sz="1100" dirty="0">
                <a:solidFill>
                  <a:srgbClr val="FFFFFF"/>
                </a:solidFill>
              </a:rPr>
              <a:t>Can you reassign a const object's property? Demonstrate with code.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Q23. </a:t>
            </a:r>
            <a:r>
              <a:rPr lang="en-US" sz="1100" dirty="0">
                <a:solidFill>
                  <a:srgbClr val="FFFFFF"/>
                </a:solidFill>
              </a:rPr>
              <a:t>What is the difference between var in a for loop vs let in a for loop?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Q24. </a:t>
            </a:r>
            <a:r>
              <a:rPr lang="en-US" sz="1100" dirty="0">
                <a:solidFill>
                  <a:srgbClr val="FFFFFF"/>
                </a:solidFill>
              </a:rPr>
              <a:t>Explain how JavaScript engines like V8 work at a high level.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Q25. </a:t>
            </a:r>
            <a:r>
              <a:rPr lang="en-US" sz="1100" dirty="0">
                <a:solidFill>
                  <a:srgbClr val="FFFFFF"/>
                </a:solidFill>
              </a:rPr>
              <a:t>What does Boolean() return for the following: 0, '', null, undefined, [], {}?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Q26. </a:t>
            </a:r>
            <a:r>
              <a:rPr lang="en-US" sz="1100" dirty="0">
                <a:solidFill>
                  <a:srgbClr val="FFFFFF"/>
                </a:solidFill>
              </a:rPr>
              <a:t>Write code showing the difference between string concatenation using + and template literals.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Q27. </a:t>
            </a:r>
            <a:r>
              <a:rPr lang="en-US" sz="1100" dirty="0">
                <a:solidFill>
                  <a:srgbClr val="FFFFFF"/>
                </a:solidFill>
              </a:rPr>
              <a:t>What is the difference between Number('') and parseInt('')?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Q28. </a:t>
            </a:r>
            <a:r>
              <a:rPr lang="en-US" sz="1100" dirty="0">
                <a:solidFill>
                  <a:srgbClr val="FFFFFF"/>
                </a:solidFill>
              </a:rPr>
              <a:t>Explain the Memory Creation Phase and Code Execution Phase of JS engine.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Q29. </a:t>
            </a:r>
            <a:r>
              <a:rPr lang="en-US" sz="1100" dirty="0">
                <a:solidFill>
                  <a:srgbClr val="FFFFFF"/>
                </a:solidFill>
              </a:rPr>
              <a:t>What will var x = y = 10; do? Explain the scoping behavior.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Q30. </a:t>
            </a:r>
            <a:r>
              <a:rPr lang="en-US" sz="1100" dirty="0">
                <a:solidFill>
                  <a:srgbClr val="FFFFFF"/>
                </a:solidFill>
              </a:rPr>
              <a:t>Write code demonstrating that objects are stored by reference, not by value.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6160" y="457200"/>
            <a:ext cx="2011680" cy="20116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566160" y="4572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Operators &amp; Control Flow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A623"/>
                </a:solidFill>
              </a:rPr>
              <a:t>Operators • if/else • switch • Loops • Break/Continue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JavaScript Operators — All Types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1. </a:t>
            </a:r>
            <a:r>
              <a:rPr lang="en-US" sz="1300" dirty="0">
                <a:solidFill>
                  <a:srgbClr val="FFFFFF"/>
                </a:solidFill>
              </a:rPr>
              <a:t>Arithmetic: + (add/concat), - (subtract), * (multiply), / (divide), % (modulo), ** (exponent)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2. </a:t>
            </a:r>
            <a:r>
              <a:rPr lang="en-US" sz="1300" dirty="0">
                <a:solidFill>
                  <a:srgbClr val="FFFFFF"/>
                </a:solidFill>
              </a:rPr>
              <a:t>Assignment: = (assign), += , -= , *= , /= , **= , ??= (nullish assign)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3. </a:t>
            </a:r>
            <a:r>
              <a:rPr lang="en-US" sz="1300" dirty="0">
                <a:solidFill>
                  <a:srgbClr val="FFFFFF"/>
                </a:solidFill>
              </a:rPr>
              <a:t>Comparison: == (loose equal), === (strict equal), !=, !==, &gt;, &lt;, &gt;=, &lt;=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4. </a:t>
            </a:r>
            <a:r>
              <a:rPr lang="en-US" sz="1300" dirty="0">
                <a:solidFill>
                  <a:srgbClr val="FFFFFF"/>
                </a:solidFill>
              </a:rPr>
              <a:t>Logical: &amp;&amp; (AND), || (OR), ! (NOT), ?? (nullish coalescing)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5. </a:t>
            </a:r>
            <a:r>
              <a:rPr lang="en-US" sz="1300" dirty="0">
                <a:solidFill>
                  <a:srgbClr val="FFFFFF"/>
                </a:solidFill>
              </a:rPr>
              <a:t>Bitwise: &amp; (AND), | (OR), ^ (XOR), ~ (NOT), &lt;&lt; (left shift), &gt;&gt; (right shift)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6. </a:t>
            </a:r>
            <a:r>
              <a:rPr lang="en-US" sz="1300" dirty="0">
                <a:solidFill>
                  <a:srgbClr val="FFFFFF"/>
                </a:solidFill>
              </a:rPr>
              <a:t>Ternary: condition ? valueIfTrue : valueIfFalse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7. </a:t>
            </a:r>
            <a:r>
              <a:rPr lang="en-US" sz="1300" dirty="0">
                <a:solidFill>
                  <a:srgbClr val="FFFFFF"/>
                </a:solidFill>
              </a:rPr>
              <a:t>Optional Chaining: obj?.property (safe access without TypeError)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8. </a:t>
            </a:r>
            <a:r>
              <a:rPr lang="en-US" sz="1300" dirty="0">
                <a:solidFill>
                  <a:srgbClr val="FFFFFF"/>
                </a:solidFill>
              </a:rPr>
              <a:t>Spread/Rest: ... (ES6) — expand iterables or collect arguments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⚡ Operators — Real E-Commerce Example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</a:rPr>
              <a:t>Using operators in a real shopping cart 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5440680" cy="3383280"/>
          </a:xfrm>
          <a:prstGeom prst="roundRect">
            <a:avLst>
              <a:gd name="adj" fmla="val 189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78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4D56"/>
                </a:solidFill>
              </a:rPr>
              <a:t>// Code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5166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E-Commerce cart calculation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price = 1499;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discount = 0.15;    // 15%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taxRate = 0.18;     // GST 18%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qty = 3;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Arithmetic operators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subtotal = price * qty;          // 4497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discountAmt = subtotal * discount; // 674.55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afterDiscount = subtotal - discountAmt;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tax = afterDiscount * taxRate;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total = afterDiscount + tax;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console.log("Subtotal:", subtotal);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console.log("Discount:", discountAmt.toFixed(2));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console.log("Total:", total.toFixed(2));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Nullish coalescing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userCity = null;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city = userCity ?? "Unknown City";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Optional chaining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 = { profile: { phone: "9876543210" } 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console.log(user?.profile?.phone);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console.log(user?.address?.pin);  // undefined (no error)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Ternary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msg = qty &gt; 5 ? "Bulk order" : "Normal order";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console.log(msg);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06440" y="1005840"/>
            <a:ext cx="3154680" cy="3383280"/>
          </a:xfrm>
          <a:prstGeom prst="roundRect">
            <a:avLst>
              <a:gd name="adj" fmla="val 2029"/>
            </a:avLst>
          </a:prstGeom>
          <a:solidFill>
            <a:srgbClr val="0D2137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07899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</a:rPr>
              <a:t>▶ OUTPUT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371600"/>
            <a:ext cx="2880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Subtotal: 4497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Discount: 674.55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4483.50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"9876543210"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"Normal order"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⚡ if / else if / else — Real Bank Balance Example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</a:rPr>
              <a:t>Conditional statements for decision making in real applications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5440680" cy="3383280"/>
          </a:xfrm>
          <a:prstGeom prst="roundRect">
            <a:avLst>
              <a:gd name="adj" fmla="val 189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78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4D56"/>
                </a:solidFill>
              </a:rPr>
              <a:t>// Code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5166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Banking app — transaction eligibility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checkWithdrawal(balance, amount, isPremium)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MIN_BALANCE = isPremium ? 500 : 2000;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MAX_WITHDRAW = isPremium ? 100000 : 25000;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(typeof amount !== "number" || amount &lt;= 0)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"❌ Invalid amount";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if (amount &gt; MAX_WITHDRAW)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`❌ Exceeds daily limit ₹${MAX_WITHDRAW}`;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if (balance - amount &lt; MIN_BALANCE)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`❌ Min balance ₹${MIN_BALANCE} required`;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newBal = balance - amount;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`✅ Withdrawn ₹${amount}. Balance: ₹${newBal}`;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console.log(checkWithdrawal(5000, 3000, false));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console.log(checkWithdrawal(2500, 1000, false));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console.log(checkWithdrawal(1000, 50000, true));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console.log(checkWithdrawal(10000, -500, false));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06440" y="1005840"/>
            <a:ext cx="3154680" cy="3383280"/>
          </a:xfrm>
          <a:prstGeom prst="roundRect">
            <a:avLst>
              <a:gd name="adj" fmla="val 2029"/>
            </a:avLst>
          </a:prstGeom>
          <a:solidFill>
            <a:srgbClr val="0D2137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07899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</a:rPr>
              <a:t>▶ OUTPUT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371600"/>
            <a:ext cx="2880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Withdrawn ₹3000.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Balance: ₹2000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Min balance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₹2000 required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Exceeds daily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limit ₹100000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Invalid amount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⚡ Loops — for, while, for...of, for...in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</a:rPr>
              <a:t>All loop types with real-world student grade processing example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5440680" cy="3383280"/>
          </a:xfrm>
          <a:prstGeom prst="roundRect">
            <a:avLst>
              <a:gd name="adj" fmla="val 189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78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4D56"/>
                </a:solidFill>
              </a:rPr>
              <a:t>// Code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5166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Student marks processing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students =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"Anita", marks: [85, 90, 78, 92]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"Rohan", marks: [60, 55, 70, 65]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"Priya", marks: [95, 98, 92, 97]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for...of loop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student of students)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total = student.marks.reduce((a, b) =&gt; a + b, 0);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avg = total / student.marks.length;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grade = avg &gt;= 90 ? "A+" : avg &gt;= 75 ? "A" : "B";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console.log(`${student.name}: ${avg.toFixed(1)} — ${grade}`);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Classic for loop with break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console.log("First failing mark:");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allMarks = [85, 90, 45, 78, 32, 91];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allMarks.length; i++)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(allMarks[i] &lt; 50)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console.log(`Index ${i}: ${allMarks[i]}`);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while loop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count = 1;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(count &lt;= 3)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console.log("Attempt", count++);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06440" y="1005840"/>
            <a:ext cx="3154680" cy="3383280"/>
          </a:xfrm>
          <a:prstGeom prst="roundRect">
            <a:avLst>
              <a:gd name="adj" fmla="val 2029"/>
            </a:avLst>
          </a:prstGeom>
          <a:solidFill>
            <a:srgbClr val="0D2137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07899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</a:rPr>
              <a:t>▶ OUTPUT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371600"/>
            <a:ext cx="2880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Anita: 86.3 — 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Rohan: 62.5 — 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Priya: 95.5 — A+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failing mark: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2: 45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 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📝 Practice Questions — Set 2 — Operators &amp; Control Flow (Q1–Q15)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Q1. </a:t>
            </a:r>
            <a:r>
              <a:rPr lang="en-US" sz="1100" dirty="0">
                <a:solidFill>
                  <a:srgbClr val="FFFFFF"/>
                </a:solidFill>
              </a:rPr>
              <a:t>What is the difference between == and === ? Give 3 examples where they differ.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Q2. </a:t>
            </a:r>
            <a:r>
              <a:rPr lang="en-US" sz="1100" dirty="0">
                <a:solidFill>
                  <a:srgbClr val="FFFFFF"/>
                </a:solidFill>
              </a:rPr>
              <a:t>What does the nullish coalescing operator (??) do? How is it different from ||?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Q3. </a:t>
            </a:r>
            <a:r>
              <a:rPr lang="en-US" sz="1100" dirty="0">
                <a:solidFill>
                  <a:srgbClr val="FFFFFF"/>
                </a:solidFill>
              </a:rPr>
              <a:t>Explain the ternary operator with a real-world example.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Q4. </a:t>
            </a:r>
            <a:r>
              <a:rPr lang="en-US" sz="1100" dirty="0">
                <a:solidFill>
                  <a:srgbClr val="FFFFFF"/>
                </a:solidFill>
              </a:rPr>
              <a:t>What is optional chaining (?.) and when would you use it?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Q5. </a:t>
            </a:r>
            <a:r>
              <a:rPr lang="en-US" sz="1100" dirty="0">
                <a:solidFill>
                  <a:srgbClr val="FFFFFF"/>
                </a:solidFill>
              </a:rPr>
              <a:t>Write a program to find the largest of three numbers using if-else.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Q6. </a:t>
            </a:r>
            <a:r>
              <a:rPr lang="en-US" sz="1100" dirty="0">
                <a:solidFill>
                  <a:srgbClr val="FFFFFF"/>
                </a:solidFill>
              </a:rPr>
              <a:t>What is the difference between &amp;&amp; and || operators? Show short-circuit evaluation.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Q7. </a:t>
            </a:r>
            <a:r>
              <a:rPr lang="en-US" sz="1100" dirty="0">
                <a:solidFill>
                  <a:srgbClr val="FFFFFF"/>
                </a:solidFill>
              </a:rPr>
              <a:t>Write a switch statement that returns the day name for a number 1–7.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Q8. </a:t>
            </a:r>
            <a:r>
              <a:rPr lang="en-US" sz="1100" dirty="0">
                <a:solidFill>
                  <a:srgbClr val="FFFFFF"/>
                </a:solidFill>
              </a:rPr>
              <a:t>What is the modulo operator? Give a real-world use case.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Q9. </a:t>
            </a:r>
            <a:r>
              <a:rPr lang="en-US" sz="1100" dirty="0">
                <a:solidFill>
                  <a:srgbClr val="FFFFFF"/>
                </a:solidFill>
              </a:rPr>
              <a:t>Explain the difference between prefix (++i) and postfix (i++) increment.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Q10. </a:t>
            </a:r>
            <a:r>
              <a:rPr lang="en-US" sz="1100" dirty="0">
                <a:solidFill>
                  <a:srgbClr val="FFFFFF"/>
                </a:solidFill>
              </a:rPr>
              <a:t>Write a for loop that prints all even numbers from 1 to 50.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Q11. </a:t>
            </a:r>
            <a:r>
              <a:rPr lang="en-US" sz="1100" dirty="0">
                <a:solidFill>
                  <a:srgbClr val="FFFFFF"/>
                </a:solidFill>
              </a:rPr>
              <a:t>What is an infinite loop? Show an example and how to prevent it.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Q12. </a:t>
            </a:r>
            <a:r>
              <a:rPr lang="en-US" sz="1100" dirty="0">
                <a:solidFill>
                  <a:srgbClr val="FFFFFF"/>
                </a:solidFill>
              </a:rPr>
              <a:t>Explain the break and continue statements with examples.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Q13. </a:t>
            </a:r>
            <a:r>
              <a:rPr lang="en-US" sz="1100" dirty="0">
                <a:solidFill>
                  <a:srgbClr val="FFFFFF"/>
                </a:solidFill>
              </a:rPr>
              <a:t>Write a program using while loop to reverse a number (e.g., 1234 → 4321).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Q14. </a:t>
            </a:r>
            <a:r>
              <a:rPr lang="en-US" sz="1100" dirty="0">
                <a:solidFill>
                  <a:srgbClr val="FFFFFF"/>
                </a:solidFill>
              </a:rPr>
              <a:t>What does the for...in loop iterate over? Give an example with an object.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Q15. </a:t>
            </a:r>
            <a:r>
              <a:rPr lang="en-US" sz="1100" dirty="0">
                <a:solidFill>
                  <a:srgbClr val="FFFFFF"/>
                </a:solidFill>
              </a:rPr>
              <a:t>What does the for...of loop iterate over? How is it different from for...in?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📝 Practice Questions — Set 2 — Operators &amp; Control Flow (Q16–Q30)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Q16. </a:t>
            </a:r>
            <a:r>
              <a:rPr lang="en-US" sz="1100" dirty="0">
                <a:solidFill>
                  <a:srgbClr val="FFFFFF"/>
                </a:solidFill>
              </a:rPr>
              <a:t>Write a program to find if a number is prime using a for loop.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Q17. </a:t>
            </a:r>
            <a:r>
              <a:rPr lang="en-US" sz="1100" dirty="0">
                <a:solidFill>
                  <a:srgbClr val="FFFFFF"/>
                </a:solidFill>
              </a:rPr>
              <a:t>What is the exponentiation operator (**) ? Compare with Math.pow().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Q18. </a:t>
            </a:r>
            <a:r>
              <a:rPr lang="en-US" sz="1100" dirty="0">
                <a:solidFill>
                  <a:srgbClr val="FFFFFF"/>
                </a:solidFill>
              </a:rPr>
              <a:t>Explain the do...while loop. When would you use it instead of while?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Q19. </a:t>
            </a:r>
            <a:r>
              <a:rPr lang="en-US" sz="1100" dirty="0">
                <a:solidFill>
                  <a:srgbClr val="FFFFFF"/>
                </a:solidFill>
              </a:rPr>
              <a:t>What is the logical NOT (!) operator? Show double negation (!!) use case.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Q20. </a:t>
            </a:r>
            <a:r>
              <a:rPr lang="en-US" sz="1100" dirty="0">
                <a:solidFill>
                  <a:srgbClr val="FFFFFF"/>
                </a:solidFill>
              </a:rPr>
              <a:t>Write a program to calculate factorial of a number using a loop.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Q21. </a:t>
            </a:r>
            <a:r>
              <a:rPr lang="en-US" sz="1100" dirty="0">
                <a:solidFill>
                  <a:srgbClr val="FFFFFF"/>
                </a:solidFill>
              </a:rPr>
              <a:t>What is the bitwise AND (&amp;) operator? When is it used practically?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Q22. </a:t>
            </a:r>
            <a:r>
              <a:rPr lang="en-US" sz="1100" dirty="0">
                <a:solidFill>
                  <a:srgbClr val="FFFFFF"/>
                </a:solidFill>
              </a:rPr>
              <a:t>Explain short-circuit evaluation with a real authentication check example.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Q23. </a:t>
            </a:r>
            <a:r>
              <a:rPr lang="en-US" sz="1100" dirty="0">
                <a:solidFill>
                  <a:srgbClr val="FFFFFF"/>
                </a:solidFill>
              </a:rPr>
              <a:t>Write a switch-case program to determine if an input character is a vowel.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Q24. </a:t>
            </a:r>
            <a:r>
              <a:rPr lang="en-US" sz="1100" dirty="0">
                <a:solidFill>
                  <a:srgbClr val="FFFFFF"/>
                </a:solidFill>
              </a:rPr>
              <a:t>What will be output: console.log(5 &gt; 4 &gt; 3)? Explain the evaluation.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Q25. </a:t>
            </a:r>
            <a:r>
              <a:rPr lang="en-US" sz="1100" dirty="0">
                <a:solidFill>
                  <a:srgbClr val="FFFFFF"/>
                </a:solidFill>
              </a:rPr>
              <a:t>Explain the assignment operators +=, -=, *=, /= with examples.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Q26. </a:t>
            </a:r>
            <a:r>
              <a:rPr lang="en-US" sz="1100" dirty="0">
                <a:solidFill>
                  <a:srgbClr val="FFFFFF"/>
                </a:solidFill>
              </a:rPr>
              <a:t>Write nested loops to print a multiplication table from 1 to 10.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Q27. </a:t>
            </a:r>
            <a:r>
              <a:rPr lang="en-US" sz="1100" dirty="0">
                <a:solidFill>
                  <a:srgbClr val="FFFFFF"/>
                </a:solidFill>
              </a:rPr>
              <a:t>What is the spread operator? Give 3 different use cases.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Q28. </a:t>
            </a:r>
            <a:r>
              <a:rPr lang="en-US" sz="1100" dirty="0">
                <a:solidFill>
                  <a:srgbClr val="FFFFFF"/>
                </a:solidFill>
              </a:rPr>
              <a:t>What is the rest parameter? How is it different from the spread operator?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Q29. </a:t>
            </a:r>
            <a:r>
              <a:rPr lang="en-US" sz="1100" dirty="0">
                <a:solidFill>
                  <a:srgbClr val="FFFFFF"/>
                </a:solidFill>
              </a:rPr>
              <a:t>Write a for loop that uses continue to skip multiples of 3.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Q30. </a:t>
            </a:r>
            <a:r>
              <a:rPr lang="en-US" sz="1100" dirty="0">
                <a:solidFill>
                  <a:srgbClr val="FFFFFF"/>
                </a:solidFill>
              </a:rPr>
              <a:t>Explain labeled statements in JS loops with a nested loop break example.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6160" y="457200"/>
            <a:ext cx="2011680" cy="20116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566160" y="4572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Functions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A623"/>
                </a:solidFill>
              </a:rPr>
              <a:t>Function Declaration • Arrow Functions • Closures • Callbacks • IIFE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Types of Functions in JavaScript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1. </a:t>
            </a:r>
            <a:r>
              <a:rPr lang="en-US" sz="1300" dirty="0">
                <a:solidFill>
                  <a:srgbClr val="FFFFFF"/>
                </a:solidFill>
              </a:rPr>
              <a:t>Function Declaration: hoisted, can be called before definition in code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2. </a:t>
            </a:r>
            <a:r>
              <a:rPr lang="en-US" sz="1300" dirty="0">
                <a:solidFill>
                  <a:srgbClr val="FFFFFF"/>
                </a:solidFill>
              </a:rPr>
              <a:t>Function Expression: stored in variable, not hoisted, called after definition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3. </a:t>
            </a:r>
            <a:r>
              <a:rPr lang="en-US" sz="1300" dirty="0">
                <a:solidFill>
                  <a:srgbClr val="FFFFFF"/>
                </a:solidFill>
              </a:rPr>
              <a:t>Arrow Function (ES6): shorter syntax, no own 'this', no 'arguments' object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4. </a:t>
            </a:r>
            <a:r>
              <a:rPr lang="en-US" sz="1300" dirty="0">
                <a:solidFill>
                  <a:srgbClr val="FFFFFF"/>
                </a:solidFill>
              </a:rPr>
              <a:t>Anonymous Function: function without name, used as callbacks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5. </a:t>
            </a:r>
            <a:r>
              <a:rPr lang="en-US" sz="1300" dirty="0">
                <a:solidFill>
                  <a:srgbClr val="FFFFFF"/>
                </a:solidFill>
              </a:rPr>
              <a:t>IIFE (Immediately Invoked Function Expression): runs immediately after definition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6. </a:t>
            </a:r>
            <a:r>
              <a:rPr lang="en-US" sz="1300" dirty="0">
                <a:solidFill>
                  <a:srgbClr val="FFFFFF"/>
                </a:solidFill>
              </a:rPr>
              <a:t>Generator Function: function* — pauses with yield, returns an iterator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7. </a:t>
            </a:r>
            <a:r>
              <a:rPr lang="en-US" sz="1300" dirty="0">
                <a:solidFill>
                  <a:srgbClr val="FFFFFF"/>
                </a:solidFill>
              </a:rPr>
              <a:t>Async Function: async/await syntax for handling Promises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8. </a:t>
            </a:r>
            <a:r>
              <a:rPr lang="en-US" sz="1300" dirty="0">
                <a:solidFill>
                  <a:srgbClr val="FFFFFF"/>
                </a:solidFill>
              </a:rPr>
              <a:t>Higher-Order Function: takes function as argument or returns a function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9. </a:t>
            </a:r>
            <a:r>
              <a:rPr lang="en-US" sz="1300" dirty="0">
                <a:solidFill>
                  <a:srgbClr val="FFFFFF"/>
                </a:solidFill>
              </a:rPr>
              <a:t>Pure Function: same input always gives same output, no side effects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10. </a:t>
            </a:r>
            <a:r>
              <a:rPr lang="en-US" sz="1300" dirty="0">
                <a:solidFill>
                  <a:srgbClr val="FFFFFF"/>
                </a:solidFill>
              </a:rPr>
              <a:t>Recursive Function: calls itself, needs a base case to prevent infinite recursion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⚡ Function Types — Syntax Comparison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</a:rPr>
              <a:t>All function types declared and compared in one real example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5440680" cy="3383280"/>
          </a:xfrm>
          <a:prstGeom prst="roundRect">
            <a:avLst>
              <a:gd name="adj" fmla="val 189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78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4D56"/>
                </a:solidFill>
              </a:rPr>
              <a:t>// Code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5166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Function Declaration (hoisted)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greet(name)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`Hello, ${name}!`;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Function Expression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square = function(n) { return n * n; };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Arrow Function (ES6)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cube = (n) =&gt; n ** 3;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add = (a, b) =&gt; a + b;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Default Parameters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createUser(name, role = "user", active = true)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name, role, active 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5. Rest Parameters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sum(...nums)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nums.reduce((acc, n) =&gt; acc + n, 0);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6. IIFE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config = (function()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API = "https://api.example.com";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API, version: "v2" 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})();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console.log(greet("Vaibhav"));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console.log(square(9));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console.log(cube(3));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console.log(sum(1,2,3,4,5));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console.log(createUser("Admin", "superadmin"));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console.log(config.API);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06440" y="1005840"/>
            <a:ext cx="3154680" cy="3383280"/>
          </a:xfrm>
          <a:prstGeom prst="roundRect">
            <a:avLst>
              <a:gd name="adj" fmla="val 2029"/>
            </a:avLst>
          </a:prstGeom>
          <a:solidFill>
            <a:srgbClr val="0D2137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07899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</a:rPr>
              <a:t>▶ OUTPUT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371600"/>
            <a:ext cx="2880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"Hello, Vaibhav!"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{name:"Admin",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role:"superadmin",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active:true}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"https://api.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example.com"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⚡ Closures — Real Counter &amp; Private Data Example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</a:rPr>
              <a:t>Closure: a function that remembers its outer scope even after the outer function returns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5440680" cy="3383280"/>
          </a:xfrm>
          <a:prstGeom prst="roundRect">
            <a:avLst>
              <a:gd name="adj" fmla="val 189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78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4D56"/>
                </a:solidFill>
              </a:rPr>
              <a:t>// Code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5166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Real-world: Bank Account with Closure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createAccount(ownerName, initialBalance)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balance = initialBalance;  // private variable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txnCount = 0;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deposit(amount)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balance += amount;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txnCount++;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console.log(`✅ Deposited ₹${amount}. Balance: ₹${balance}`);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withdraw(amount)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(amount &gt; balance)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console.log("❌ Insufficient funds");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balance -= amount;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txnCount++;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console.log(`✅ Withdrawn ₹${amount}. Balance: ₹${balance}`);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getBalance()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`${ownerName}: ₹${balance} (${txnCount} txns)`;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acc = createAccount("Rahul", 10000);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acc.deposit(5000);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acc.withdraw(3000);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acc.withdraw(20000);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console.log(acc.getBalance());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06440" y="1005840"/>
            <a:ext cx="3154680" cy="3383280"/>
          </a:xfrm>
          <a:prstGeom prst="roundRect">
            <a:avLst>
              <a:gd name="adj" fmla="val 2029"/>
            </a:avLst>
          </a:prstGeom>
          <a:solidFill>
            <a:srgbClr val="0D2137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07899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</a:rPr>
              <a:t>▶ OUTPUT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371600"/>
            <a:ext cx="2880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Deposited ₹5000.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Balance: ₹15000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Withdrawn ₹3000.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Balance: ₹12000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Insufficient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funds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Rahul: ₹12000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 txns)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⚡ Higher-Order Functions &amp; Callbacks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</a:rPr>
              <a:t>Functions as arguments — the foundation of async JS and functional programming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5440680" cy="3383280"/>
          </a:xfrm>
          <a:prstGeom prst="roundRect">
            <a:avLst>
              <a:gd name="adj" fmla="val 189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78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4D56"/>
                </a:solidFill>
              </a:rPr>
              <a:t>// Code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5166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Callbacks in action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processOrder(orderId, onSuccess, onError)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orders =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"ORD001": { item: "Laptop", price: 55000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"ORD002": { item: "Phone", price: 18000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order = orders[orderId];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(order)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onSuccess(order);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onError(`Order ${orderId} not found`);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processOrder("ORD001",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(order) =&gt; console.log(`✅ ${order.item} — ₹${order.price}`),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(err) =&gt; console.log("❌ Error:", err)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processOrder("ORD999",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(order) =&gt; console.log("Found:", order),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(err) =&gt; console.log("❌ Error:", err)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Function returning function (factory)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multiplier(factor)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(num) =&gt; num * factor;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double = multiplier(2);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triple = multiplier(3);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console.log(double(15)); // 30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console.log(triple(7));  // 21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06440" y="1005840"/>
            <a:ext cx="3154680" cy="3383280"/>
          </a:xfrm>
          <a:prstGeom prst="roundRect">
            <a:avLst>
              <a:gd name="adj" fmla="val 2029"/>
            </a:avLst>
          </a:prstGeom>
          <a:solidFill>
            <a:srgbClr val="0D2137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07899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</a:rPr>
              <a:t>▶ OUTPUT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371600"/>
            <a:ext cx="2880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Laptop — ₹55000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Error: Order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ORD999 not found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📝 Practice Questions — Set 3 — Functions (Q1–Q15)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Q1. </a:t>
            </a:r>
            <a:r>
              <a:rPr lang="en-US" sz="1100" dirty="0">
                <a:solidFill>
                  <a:srgbClr val="FFFFFF"/>
                </a:solidFill>
              </a:rPr>
              <a:t>What is a function declaration vs function expression? How does hoisting affect each?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Q2. </a:t>
            </a:r>
            <a:r>
              <a:rPr lang="en-US" sz="1100" dirty="0">
                <a:solidFill>
                  <a:srgbClr val="FFFFFF"/>
                </a:solidFill>
              </a:rPr>
              <a:t>Explain the syntax of arrow functions. What are 3 differences from regular functions?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Q3. </a:t>
            </a:r>
            <a:r>
              <a:rPr lang="en-US" sz="1100" dirty="0">
                <a:solidFill>
                  <a:srgbClr val="FFFFFF"/>
                </a:solidFill>
              </a:rPr>
              <a:t>What is a closure in JavaScript? Write a counter example using closure.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Q4. </a:t>
            </a:r>
            <a:r>
              <a:rPr lang="en-US" sz="1100" dirty="0">
                <a:solidFill>
                  <a:srgbClr val="FFFFFF"/>
                </a:solidFill>
              </a:rPr>
              <a:t>What is an IIFE? Write an IIFE that returns a configuration object.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Q5. </a:t>
            </a:r>
            <a:r>
              <a:rPr lang="en-US" sz="1100" dirty="0">
                <a:solidFill>
                  <a:srgbClr val="FFFFFF"/>
                </a:solidFill>
              </a:rPr>
              <a:t>What is a higher-order function? Give 2 real-world examples.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Q6. </a:t>
            </a:r>
            <a:r>
              <a:rPr lang="en-US" sz="1100" dirty="0">
                <a:solidFill>
                  <a:srgbClr val="FFFFFF"/>
                </a:solidFill>
              </a:rPr>
              <a:t>What are default parameters? Show their use in a real function.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Q7. </a:t>
            </a:r>
            <a:r>
              <a:rPr lang="en-US" sz="1100" dirty="0">
                <a:solidFill>
                  <a:srgbClr val="FFFFFF"/>
                </a:solidFill>
              </a:rPr>
              <a:t>What are rest parameters? How are they different from the arguments object?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Q8. </a:t>
            </a:r>
            <a:r>
              <a:rPr lang="en-US" sz="1100" dirty="0">
                <a:solidFill>
                  <a:srgbClr val="FFFFFF"/>
                </a:solidFill>
              </a:rPr>
              <a:t>Write a function using recursion to calculate Fibonacci sequence.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Q9. </a:t>
            </a:r>
            <a:r>
              <a:rPr lang="en-US" sz="1100" dirty="0">
                <a:solidFill>
                  <a:srgbClr val="FFFFFF"/>
                </a:solidFill>
              </a:rPr>
              <a:t>What is a callback function? Why are they important in JavaScript?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Q10. </a:t>
            </a:r>
            <a:r>
              <a:rPr lang="en-US" sz="1100" dirty="0">
                <a:solidFill>
                  <a:srgbClr val="FFFFFF"/>
                </a:solidFill>
              </a:rPr>
              <a:t>What is a pure function? Write 2 examples — one pure, one impure.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Q11. </a:t>
            </a:r>
            <a:r>
              <a:rPr lang="en-US" sz="1100" dirty="0">
                <a:solidFill>
                  <a:srgbClr val="FFFFFF"/>
                </a:solidFill>
              </a:rPr>
              <a:t>Explain the difference between function scope and block scope.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Q12. </a:t>
            </a:r>
            <a:r>
              <a:rPr lang="en-US" sz="1100" dirty="0">
                <a:solidFill>
                  <a:srgbClr val="FFFFFF"/>
                </a:solidFill>
              </a:rPr>
              <a:t>What is memoization? Write a memoized factorial function using closure.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Q13. </a:t>
            </a:r>
            <a:r>
              <a:rPr lang="en-US" sz="1100" dirty="0">
                <a:solidFill>
                  <a:srgbClr val="FFFFFF"/>
                </a:solidFill>
              </a:rPr>
              <a:t>What is a generator function? Write one that generates a sequence of IDs.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Q14. </a:t>
            </a:r>
            <a:r>
              <a:rPr lang="en-US" sz="1100" dirty="0">
                <a:solidFill>
                  <a:srgbClr val="FFFFFF"/>
                </a:solidFill>
              </a:rPr>
              <a:t>Explain the concept of first-class functions in JavaScript.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Q15. </a:t>
            </a:r>
            <a:r>
              <a:rPr lang="en-US" sz="1100" dirty="0">
                <a:solidFill>
                  <a:srgbClr val="FFFFFF"/>
                </a:solidFill>
              </a:rPr>
              <a:t>What will be the output of: var f = function() {}; console.log(typeof f);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📝 Practice Questions — Set 3 — Functions (Q16–Q30)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Q16. </a:t>
            </a:r>
            <a:r>
              <a:rPr lang="en-US" sz="1100" dirty="0">
                <a:solidFill>
                  <a:srgbClr val="FFFFFF"/>
                </a:solidFill>
              </a:rPr>
              <a:t>Write a function that takes another function as argument and calls it after 2 seconds.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Q17. </a:t>
            </a:r>
            <a:r>
              <a:rPr lang="en-US" sz="1100" dirty="0">
                <a:solidFill>
                  <a:srgbClr val="FFFFFF"/>
                </a:solidFill>
              </a:rPr>
              <a:t>What is the difference between .call(), .apply(), and .bind()?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Q18. </a:t>
            </a:r>
            <a:r>
              <a:rPr lang="en-US" sz="1100" dirty="0">
                <a:solidFill>
                  <a:srgbClr val="FFFFFF"/>
                </a:solidFill>
              </a:rPr>
              <a:t>Write a function that returns a function (function factory) for different greetings.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Q19. </a:t>
            </a:r>
            <a:r>
              <a:rPr lang="en-US" sz="1100" dirty="0">
                <a:solidFill>
                  <a:srgbClr val="FFFFFF"/>
                </a:solidFill>
              </a:rPr>
              <a:t>What is the 'arguments' object? Does it work in arrow functions?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Q20. </a:t>
            </a:r>
            <a:r>
              <a:rPr lang="en-US" sz="1100" dirty="0">
                <a:solidFill>
                  <a:srgbClr val="FFFFFF"/>
                </a:solidFill>
              </a:rPr>
              <a:t>Explain function currying with a real-world pricing example.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Q21. </a:t>
            </a:r>
            <a:r>
              <a:rPr lang="en-US" sz="1100" dirty="0">
                <a:solidFill>
                  <a:srgbClr val="FFFFFF"/>
                </a:solidFill>
              </a:rPr>
              <a:t>What is a self-executing function and why would you use it?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Q22. </a:t>
            </a:r>
            <a:r>
              <a:rPr lang="en-US" sz="1100" dirty="0">
                <a:solidFill>
                  <a:srgbClr val="FFFFFF"/>
                </a:solidFill>
              </a:rPr>
              <a:t>What is the difference between returning a value and console.log in a function?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Q23. </a:t>
            </a:r>
            <a:r>
              <a:rPr lang="en-US" sz="1100" dirty="0">
                <a:solidFill>
                  <a:srgbClr val="FFFFFF"/>
                </a:solidFill>
              </a:rPr>
              <a:t>Write a recursive function to flatten a deeply nested array.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Q24. </a:t>
            </a:r>
            <a:r>
              <a:rPr lang="en-US" sz="1100" dirty="0">
                <a:solidFill>
                  <a:srgbClr val="FFFFFF"/>
                </a:solidFill>
              </a:rPr>
              <a:t>What is function composition? Show how to compose 3 functions together.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Q25. </a:t>
            </a:r>
            <a:r>
              <a:rPr lang="en-US" sz="1100" dirty="0">
                <a:solidFill>
                  <a:srgbClr val="FFFFFF"/>
                </a:solidFill>
              </a:rPr>
              <a:t>Explain the scope chain with a nested function example.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Q26. </a:t>
            </a:r>
            <a:r>
              <a:rPr lang="en-US" sz="1100" dirty="0">
                <a:solidFill>
                  <a:srgbClr val="FFFFFF"/>
                </a:solidFill>
              </a:rPr>
              <a:t>Write a function that accepts unlimited arguments and returns their average.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Q27. </a:t>
            </a:r>
            <a:r>
              <a:rPr lang="en-US" sz="1100" dirty="0">
                <a:solidFill>
                  <a:srgbClr val="FFFFFF"/>
                </a:solidFill>
              </a:rPr>
              <a:t>What is a named function expression? Why is it useful for debugging?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Q28. </a:t>
            </a:r>
            <a:r>
              <a:rPr lang="en-US" sz="1100" dirty="0">
                <a:solidFill>
                  <a:srgbClr val="FFFFFF"/>
                </a:solidFill>
              </a:rPr>
              <a:t>Explain the difference between synchronous and asynchronous function calls.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Q29. </a:t>
            </a:r>
            <a:r>
              <a:rPr lang="en-US" sz="1100" dirty="0">
                <a:solidFill>
                  <a:srgbClr val="FFFFFF"/>
                </a:solidFill>
              </a:rPr>
              <a:t>Write a debounce function that delays execution until 300ms after last call.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Q30. </a:t>
            </a:r>
            <a:r>
              <a:rPr lang="en-US" sz="1100" dirty="0">
                <a:solidFill>
                  <a:srgbClr val="FFFFFF"/>
                </a:solidFill>
              </a:rPr>
              <a:t>What is the difference between map(), filter(), reduce() as higher-order functions?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6160" y="457200"/>
            <a:ext cx="2011680" cy="20116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566160" y="4572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Arrays &amp; Objects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A623"/>
                </a:solidFill>
              </a:rPr>
              <a:t>Array Methods • Object Methods • Destructuring • Spread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⚡ Array Methods — Complete Real Example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</a:rPr>
              <a:t>Processing a list of products using all major array methods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5440680" cy="3383280"/>
          </a:xfrm>
          <a:prstGeom prst="roundRect">
            <a:avLst>
              <a:gd name="adj" fmla="val 189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78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4D56"/>
                </a:solidFill>
              </a:rPr>
              <a:t>// Code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5166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products =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id:1, name:"Laptop", price:55000, cat:"Electronics"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id:2, name:"Shirt",  price:999,   cat:"Clothing"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id:3, name:"Phone",  price:18000, cat:"Electronics"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id:4, name:"Shoes",  price:2499,  cat:"Clothing"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id:5, name:"Tablet", price:22000, cat:"Electronics"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filter — only electronics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electronics = products.filter(p =&gt; p.cat === "Electronics");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console.log(electronics.length); // 3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 — extract names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names = products.map(p =&gt; p.name);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console.log(names);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find — specific product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phone = products.find(p =&gt; p.name === "Phone");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console.log(phone.price); // 18000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reduce — total value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total = products.reduce((sum, p) =&gt; sum + p.price, 0);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console.log("Total:", total); // 98498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sort by price (ascending)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sorted = [...products].sort((a,b) =&gt; a.price - b.price);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console.log(sorted[0].name); // Shirt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every / some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allExp = products.every(p =&gt; p.price &gt; 500);   // true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hasLux = products.some(p =&gt; p.price &gt; 50000);  // true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console.log(allExp, hasLux);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06440" y="1005840"/>
            <a:ext cx="3154680" cy="3383280"/>
          </a:xfrm>
          <a:prstGeom prst="roundRect">
            <a:avLst>
              <a:gd name="adj" fmla="val 2029"/>
            </a:avLst>
          </a:prstGeom>
          <a:solidFill>
            <a:srgbClr val="0D2137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07899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</a:rPr>
              <a:t>▶ OUTPUT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371600"/>
            <a:ext cx="2880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["Laptop","Shirt",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"Phone","Shoes",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"Tablet"]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18000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98498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"Shirt"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true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⚡ Objects — Methods, Destructuring &amp; Spread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</a:rPr>
              <a:t>Working with objects in real student management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5440680" cy="3383280"/>
          </a:xfrm>
          <a:prstGeom prst="roundRect">
            <a:avLst>
              <a:gd name="adj" fmla="val 189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78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4D56"/>
                </a:solidFill>
              </a:rPr>
              <a:t>// Code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5166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 creation &amp; methods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student =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"Priya Sharma",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age: 21,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marks: { math: 92, science: 88, english: 79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getAvg()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vals = Object.values(this.marks);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vals.reduce((a,b)=&gt;a+b,0) / vals.length;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Destructuring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name, age, marks: { math, science } } = student;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console.log(name, age, math);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Computed average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console.log(student.getAvg().toFixed(2));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 spread — create new object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updatedStudent =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...student,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age: 22,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city: "Chandigarh"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console.log(updatedStudent.city);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Object.keys / values / entries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Object.entries(student.marks).forEach(([subj, score])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console.log(`${subj}: ${score}`);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Object.assign — merge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extras = { hobby: "Chess", year: 3 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full = Object.assign({}, student, extras);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console.log(full.hobby);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06440" y="1005840"/>
            <a:ext cx="3154680" cy="3383280"/>
          </a:xfrm>
          <a:prstGeom prst="roundRect">
            <a:avLst>
              <a:gd name="adj" fmla="val 2029"/>
            </a:avLst>
          </a:prstGeom>
          <a:solidFill>
            <a:srgbClr val="0D2137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07899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</a:rPr>
              <a:t>▶ OUTPUT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371600"/>
            <a:ext cx="2880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"Priya Sharma" 21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86.33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"Chandigarh"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math: 92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science: 88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english: 79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"Chess"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📝 Practice Questions — Set 4 — Arrays &amp; Objects (Q1–Q15)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Q1. </a:t>
            </a:r>
            <a:r>
              <a:rPr lang="en-US" sz="1100" dirty="0">
                <a:solidFill>
                  <a:srgbClr val="FFFFFF"/>
                </a:solidFill>
              </a:rPr>
              <a:t>What is the difference between map() and forEach()? When do you use each?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Q2. </a:t>
            </a:r>
            <a:r>
              <a:rPr lang="en-US" sz="1100" dirty="0">
                <a:solidFill>
                  <a:srgbClr val="FFFFFF"/>
                </a:solidFill>
              </a:rPr>
              <a:t>How does filter() work? Write code to filter users who are older than 18.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Q3. </a:t>
            </a:r>
            <a:r>
              <a:rPr lang="en-US" sz="1100" dirty="0">
                <a:solidFill>
                  <a:srgbClr val="FFFFFF"/>
                </a:solidFill>
              </a:rPr>
              <a:t>Explain reduce() with a real example of calculating total cart value.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Q4. </a:t>
            </a:r>
            <a:r>
              <a:rPr lang="en-US" sz="1100" dirty="0">
                <a:solidFill>
                  <a:srgbClr val="FFFFFF"/>
                </a:solidFill>
              </a:rPr>
              <a:t>What is the difference between find() and findIndex()? Give examples.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Q5. </a:t>
            </a:r>
            <a:r>
              <a:rPr lang="en-US" sz="1100" dirty="0">
                <a:solidFill>
                  <a:srgbClr val="FFFFFF"/>
                </a:solidFill>
              </a:rPr>
              <a:t>How does Array.sort() work? How do you sort numbers correctly?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Q6. </a:t>
            </a:r>
            <a:r>
              <a:rPr lang="en-US" sz="1100" dirty="0">
                <a:solidFill>
                  <a:srgbClr val="FFFFFF"/>
                </a:solidFill>
              </a:rPr>
              <a:t>What is the difference between slice() and splice()? Show 3 examples each.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Q7. </a:t>
            </a:r>
            <a:r>
              <a:rPr lang="en-US" sz="1100" dirty="0">
                <a:solidFill>
                  <a:srgbClr val="FFFFFF"/>
                </a:solidFill>
              </a:rPr>
              <a:t>Explain array destructuring with default values and renaming.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Q8. </a:t>
            </a:r>
            <a:r>
              <a:rPr lang="en-US" sz="1100" dirty="0">
                <a:solidFill>
                  <a:srgbClr val="FFFFFF"/>
                </a:solidFill>
              </a:rPr>
              <a:t>How do you flatten a nested array using flat() and flatMap()?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Q9. </a:t>
            </a:r>
            <a:r>
              <a:rPr lang="en-US" sz="1100" dirty="0">
                <a:solidFill>
                  <a:srgbClr val="FFFFFF"/>
                </a:solidFill>
              </a:rPr>
              <a:t>What does Array.from() do? Give 3 different use cases.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Q10. </a:t>
            </a:r>
            <a:r>
              <a:rPr lang="en-US" sz="1100" dirty="0">
                <a:solidFill>
                  <a:srgbClr val="FFFFFF"/>
                </a:solidFill>
              </a:rPr>
              <a:t>Explain the difference between push()/pop() and shift()/unshift().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Q11. </a:t>
            </a:r>
            <a:r>
              <a:rPr lang="en-US" sz="1100" dirty="0">
                <a:solidFill>
                  <a:srgbClr val="FFFFFF"/>
                </a:solidFill>
              </a:rPr>
              <a:t>How do you check if a value exists in an array? Compare includes(), indexOf(), find().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Q12. </a:t>
            </a:r>
            <a:r>
              <a:rPr lang="en-US" sz="1100" dirty="0">
                <a:solidFill>
                  <a:srgbClr val="FFFFFF"/>
                </a:solidFill>
              </a:rPr>
              <a:t>What is the spread operator with arrays? Show how to merge two arrays.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Q13. </a:t>
            </a:r>
            <a:r>
              <a:rPr lang="en-US" sz="1100" dirty="0">
                <a:solidFill>
                  <a:srgbClr val="FFFFFF"/>
                </a:solidFill>
              </a:rPr>
              <a:t>What is Object.keys(), Object.values(), Object.entries()? Give real examples.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Q14. </a:t>
            </a:r>
            <a:r>
              <a:rPr lang="en-US" sz="1100" dirty="0">
                <a:solidFill>
                  <a:srgbClr val="FFFFFF"/>
                </a:solidFill>
              </a:rPr>
              <a:t>Explain object destructuring with nested objects and renaming variables.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Q15. </a:t>
            </a:r>
            <a:r>
              <a:rPr lang="en-US" sz="1100" dirty="0">
                <a:solidFill>
                  <a:srgbClr val="FFFFFF"/>
                </a:solidFill>
              </a:rPr>
              <a:t>What is Object.assign()? How does it differ from the spread operator?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📝 Practice Questions — Set 4 — Arrays &amp; Objects (Q16–Q30)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Q16. </a:t>
            </a:r>
            <a:r>
              <a:rPr lang="en-US" sz="1100" dirty="0">
                <a:solidFill>
                  <a:srgbClr val="FFFFFF"/>
                </a:solidFill>
              </a:rPr>
              <a:t>What is the difference between shallow copy and deep copy of an object?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Q17. </a:t>
            </a:r>
            <a:r>
              <a:rPr lang="en-US" sz="1100" dirty="0">
                <a:solidFill>
                  <a:srgbClr val="FFFFFF"/>
                </a:solidFill>
              </a:rPr>
              <a:t>How do you check if an object has a specific property?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Q18. </a:t>
            </a:r>
            <a:r>
              <a:rPr lang="en-US" sz="1100" dirty="0">
                <a:solidFill>
                  <a:srgbClr val="FFFFFF"/>
                </a:solidFill>
              </a:rPr>
              <a:t>What is Object.freeze() and Object.seal()? How are they different?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Q19. </a:t>
            </a:r>
            <a:r>
              <a:rPr lang="en-US" sz="1100" dirty="0">
                <a:solidFill>
                  <a:srgbClr val="FFFFFF"/>
                </a:solidFill>
              </a:rPr>
              <a:t>Write code to group an array of students by their grade using reduce().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Q20. </a:t>
            </a:r>
            <a:r>
              <a:rPr lang="en-US" sz="1100" dirty="0">
                <a:solidFill>
                  <a:srgbClr val="FFFFFF"/>
                </a:solidFill>
              </a:rPr>
              <a:t>How do you convert an object to an array and back?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Q21. </a:t>
            </a:r>
            <a:r>
              <a:rPr lang="en-US" sz="1100" dirty="0">
                <a:solidFill>
                  <a:srgbClr val="FFFFFF"/>
                </a:solidFill>
              </a:rPr>
              <a:t>What are computed property names in objects? Give an example.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Q22. </a:t>
            </a:r>
            <a:r>
              <a:rPr lang="en-US" sz="1100" dirty="0">
                <a:solidFill>
                  <a:srgbClr val="FFFFFF"/>
                </a:solidFill>
              </a:rPr>
              <a:t>Explain the concept of property shorthand in ES6 objects.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Q23. </a:t>
            </a:r>
            <a:r>
              <a:rPr lang="en-US" sz="1100" dirty="0">
                <a:solidFill>
                  <a:srgbClr val="FFFFFF"/>
                </a:solidFill>
              </a:rPr>
              <a:t>How do you remove a property from an object? What is the delete operator?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Q24. </a:t>
            </a:r>
            <a:r>
              <a:rPr lang="en-US" sz="1100" dirty="0">
                <a:solidFill>
                  <a:srgbClr val="FFFFFF"/>
                </a:solidFill>
              </a:rPr>
              <a:t>Write code using chained array methods to find the top 3 expensive products.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Q25. </a:t>
            </a:r>
            <a:r>
              <a:rPr lang="en-US" sz="1100" dirty="0">
                <a:solidFill>
                  <a:srgbClr val="FFFFFF"/>
                </a:solidFill>
              </a:rPr>
              <a:t>What is Array.isArray()? Why is typeof [] === 'object' not reliable?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Q26. </a:t>
            </a:r>
            <a:r>
              <a:rPr lang="en-US" sz="1100" dirty="0">
                <a:solidFill>
                  <a:srgbClr val="FFFFFF"/>
                </a:solidFill>
              </a:rPr>
              <a:t>What is the difference between == and deep equality for objects?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Q27. </a:t>
            </a:r>
            <a:r>
              <a:rPr lang="en-US" sz="1100" dirty="0">
                <a:solidFill>
                  <a:srgbClr val="FFFFFF"/>
                </a:solidFill>
              </a:rPr>
              <a:t>How do you sort an array of objects by a string property alphabetically?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Q28. </a:t>
            </a:r>
            <a:r>
              <a:rPr lang="en-US" sz="1100" dirty="0">
                <a:solidFill>
                  <a:srgbClr val="FFFFFF"/>
                </a:solidFill>
              </a:rPr>
              <a:t>What is a Set in JavaScript? How do you use it to remove duplicates?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Q29. </a:t>
            </a:r>
            <a:r>
              <a:rPr lang="en-US" sz="1100" dirty="0">
                <a:solidFill>
                  <a:srgbClr val="FFFFFF"/>
                </a:solidFill>
              </a:rPr>
              <a:t>What is a Map? How is it different from a plain object?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Q30. </a:t>
            </a:r>
            <a:r>
              <a:rPr lang="en-US" sz="1100" dirty="0">
                <a:solidFill>
                  <a:srgbClr val="FFFFFF"/>
                </a:solidFill>
              </a:rPr>
              <a:t>Write a function that deep clones a JavaScript object without using libraries.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6160" y="457200"/>
            <a:ext cx="2011680" cy="20116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566160" y="4572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DOM Manipulation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A623"/>
                </a:solidFill>
              </a:rPr>
              <a:t>Selectors • Events • Traversal • Dynamic HTML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DOM — Document Object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1. </a:t>
            </a:r>
            <a:r>
              <a:rPr lang="en-US" sz="1300" dirty="0">
                <a:solidFill>
                  <a:srgbClr val="FFFFFF"/>
                </a:solidFill>
              </a:rPr>
              <a:t>DOM is a tree-like representation of the HTML document in memory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2. </a:t>
            </a:r>
            <a:r>
              <a:rPr lang="en-US" sz="1300" dirty="0">
                <a:solidFill>
                  <a:srgbClr val="FFFFFF"/>
                </a:solidFill>
              </a:rPr>
              <a:t>JavaScript can read, change, add, or delete HTML elements and attributes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3. </a:t>
            </a:r>
            <a:r>
              <a:rPr lang="en-US" sz="1300" dirty="0">
                <a:solidFill>
                  <a:srgbClr val="FFFFFF"/>
                </a:solidFill>
              </a:rPr>
              <a:t>document.getElementById('id') — fastest, selects by unique ID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4. </a:t>
            </a:r>
            <a:r>
              <a:rPr lang="en-US" sz="1300" dirty="0">
                <a:solidFill>
                  <a:srgbClr val="FFFFFF"/>
                </a:solidFill>
              </a:rPr>
              <a:t>document.querySelector('.class') — returns first match (CSS selector)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5. </a:t>
            </a:r>
            <a:r>
              <a:rPr lang="en-US" sz="1300" dirty="0">
                <a:solidFill>
                  <a:srgbClr val="FFFFFF"/>
                </a:solidFill>
              </a:rPr>
              <a:t>document.querySelectorAll('p') — returns NodeList of all matches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6. </a:t>
            </a:r>
            <a:r>
              <a:rPr lang="en-US" sz="1300" dirty="0">
                <a:solidFill>
                  <a:srgbClr val="FFFFFF"/>
                </a:solidFill>
              </a:rPr>
              <a:t>document.getElementsByClassName() — returns HTMLCollection (live)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7. </a:t>
            </a:r>
            <a:r>
              <a:rPr lang="en-US" sz="1300" dirty="0">
                <a:solidFill>
                  <a:srgbClr val="FFFFFF"/>
                </a:solidFill>
              </a:rPr>
              <a:t>Difference: querySelector returns single element, querySelectorAll returns NodeList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8. </a:t>
            </a:r>
            <a:r>
              <a:rPr lang="en-US" sz="1300" dirty="0">
                <a:solidFill>
                  <a:srgbClr val="FFFFFF"/>
                </a:solidFill>
              </a:rPr>
              <a:t>innerHTML vs textContent: innerHTML parses HTML, textContent is plain text (safer)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⚡ DOM — Real To-Do List (HTML + JS)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</a:rPr>
              <a:t>Creating, reading, and deleting DOM elements dynamically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5440680" cy="3383280"/>
          </a:xfrm>
          <a:prstGeom prst="roundRect">
            <a:avLst>
              <a:gd name="adj" fmla="val 189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78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4D56"/>
                </a:solidFill>
              </a:rPr>
              <a:t>// Code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5166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HTML structure assumed: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&lt;input id="taskInput" 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&lt;button id="addBtn"&gt;Add&lt;/button&gt;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&lt;ul id="taskList"&gt;&lt;/ul&gt;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input = document.getElementById("taskInput");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btn = document.getElementById("addBtn");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list = document.getElementById("taskList");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tasks = [];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renderTasks()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list.innerHTML = "";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tasks.forEach((task, i)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li = document.createElement("li");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li.innerHTML = `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&lt;span&gt;${task}&lt;/span&gt;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onclick="deleteTask(${i})"&gt;🗑️&lt;/button&gt;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li.classList.add("task-item");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(task.done) li.classList.add("done");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list.appendChild(li);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btn.addEventListener("click", ()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val = input.value.trim();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(!val) return alert("Enter a task!");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tasks.push(val);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input.value = "";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renderTasks();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deleteTask(index)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tasks.splice(index, 1);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renderTasks();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06440" y="1005840"/>
            <a:ext cx="3154680" cy="3383280"/>
          </a:xfrm>
          <a:prstGeom prst="roundRect">
            <a:avLst>
              <a:gd name="adj" fmla="val 2029"/>
            </a:avLst>
          </a:prstGeom>
          <a:solidFill>
            <a:srgbClr val="0D2137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07899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</a:rPr>
              <a:t>▶ OUTPUT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371600"/>
            <a:ext cx="2880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types: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"Buy groceries"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Clicks "Add"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&lt;li&gt; appended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&lt;ul&gt;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 list updates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dynamically 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add/delete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 changes: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createElement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appendChild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innerHTML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classList.add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splice + re-render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⚡ Events — Event Listeners &amp; Event Delegation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</a:rPr>
              <a:t>Handling user interactions efficiently with real form validation example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5440680" cy="3383280"/>
          </a:xfrm>
          <a:prstGeom prst="roundRect">
            <a:avLst>
              <a:gd name="adj" fmla="val 189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78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4D56"/>
                </a:solidFill>
              </a:rPr>
              <a:t>// Code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5166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Form Validation — Real Example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form = document.getElementById("signupForm");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email = document.getElementById("email");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password = document.getElementById("password");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Real-time validation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email.addEventListener("input", function(e)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val = e.target.value;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isValid = /^[^s@]+@[^s@]+.[^s@]+$/.test(val);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email.style.borderColor = isValid ? "green" : "red";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document.getElementById("emailError").textContent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isValid ? "" : "Enter valid email";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Event delegation — handle many buttons with one listener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document.getElementById("btnContainer")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.addEventListener("click", function(e)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(e.target.classList.contains("action-btn"))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action = e.target.dataset.action;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console.log("Action:", action);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Prevent form default submission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form.addEventListener("submit", function(e)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e.preventDefault();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console.log("Form data processed");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Keyboard events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document.addEventListener("keydown", (e)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(e.ctrlKey &amp;&amp; e.key === "s")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e.preventDefault();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console.log("Ctrl+S: Save triggered");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06440" y="1005840"/>
            <a:ext cx="3154680" cy="3383280"/>
          </a:xfrm>
          <a:prstGeom prst="roundRect">
            <a:avLst>
              <a:gd name="adj" fmla="val 2029"/>
            </a:avLst>
          </a:prstGeom>
          <a:solidFill>
            <a:srgbClr val="0D2137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07899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</a:rPr>
              <a:t>▶ OUTPUT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371600"/>
            <a:ext cx="2880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types email: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"invalid" → red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valid email → green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 .action-btn: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"Action: edit"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"Action: delete"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submit: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"Form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processed"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(page doesn't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reload)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 pressed: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"Ctrl+S: Save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triggered"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📝 Practice Questions — Set 5 — DOM Manipulation (Q1–Q15)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Q1. </a:t>
            </a:r>
            <a:r>
              <a:rPr lang="en-US" sz="1100" dirty="0">
                <a:solidFill>
                  <a:srgbClr val="FFFFFF"/>
                </a:solidFill>
              </a:rPr>
              <a:t>What is the DOM? How is it different from HTML source code?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Q2. </a:t>
            </a:r>
            <a:r>
              <a:rPr lang="en-US" sz="1100" dirty="0">
                <a:solidFill>
                  <a:srgbClr val="FFFFFF"/>
                </a:solidFill>
              </a:rPr>
              <a:t>What is the difference between getElementById and querySelector?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Q3. </a:t>
            </a:r>
            <a:r>
              <a:rPr lang="en-US" sz="1100" dirty="0">
                <a:solidFill>
                  <a:srgbClr val="FFFFFF"/>
                </a:solidFill>
              </a:rPr>
              <a:t>Explain the difference between innerHTML, textContent, and innerText.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Q4. </a:t>
            </a:r>
            <a:r>
              <a:rPr lang="en-US" sz="1100" dirty="0">
                <a:solidFill>
                  <a:srgbClr val="FFFFFF"/>
                </a:solidFill>
              </a:rPr>
              <a:t>What is event delegation? Why is it more efficient than adding listeners to each element?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Q5. </a:t>
            </a:r>
            <a:r>
              <a:rPr lang="en-US" sz="1100" dirty="0">
                <a:solidFill>
                  <a:srgbClr val="FFFFFF"/>
                </a:solidFill>
              </a:rPr>
              <a:t>How do you create and append a new DOM element using JavaScript?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Q6. </a:t>
            </a:r>
            <a:r>
              <a:rPr lang="en-US" sz="1100" dirty="0">
                <a:solidFill>
                  <a:srgbClr val="FFFFFF"/>
                </a:solidFill>
              </a:rPr>
              <a:t>What does e.preventDefault() do? Give 2 real use cases.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Q7. </a:t>
            </a:r>
            <a:r>
              <a:rPr lang="en-US" sz="1100" dirty="0">
                <a:solidFill>
                  <a:srgbClr val="FFFFFF"/>
                </a:solidFill>
              </a:rPr>
              <a:t>What does e.stopPropagation() do? Explain event bubbling.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Q8. </a:t>
            </a:r>
            <a:r>
              <a:rPr lang="en-US" sz="1100" dirty="0">
                <a:solidFill>
                  <a:srgbClr val="FFFFFF"/>
                </a:solidFill>
              </a:rPr>
              <a:t>What is the difference between addEventListener and onclick attribute?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Q9. </a:t>
            </a:r>
            <a:r>
              <a:rPr lang="en-US" sz="1100" dirty="0">
                <a:solidFill>
                  <a:srgbClr val="FFFFFF"/>
                </a:solidFill>
              </a:rPr>
              <a:t>How do you add and remove CSS classes using JavaScript?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Q10. </a:t>
            </a:r>
            <a:r>
              <a:rPr lang="en-US" sz="1100" dirty="0">
                <a:solidFill>
                  <a:srgbClr val="FFFFFF"/>
                </a:solidFill>
              </a:rPr>
              <a:t>What is the difference between querySelectorAll() and getElementsByClassName()?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Q11. </a:t>
            </a:r>
            <a:r>
              <a:rPr lang="en-US" sz="1100" dirty="0">
                <a:solidFill>
                  <a:srgbClr val="FFFFFF"/>
                </a:solidFill>
              </a:rPr>
              <a:t>Explain DOM traversal methods: parentNode, children, nextSibling, previousSibling.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Q12. </a:t>
            </a:r>
            <a:r>
              <a:rPr lang="en-US" sz="1100" dirty="0">
                <a:solidFill>
                  <a:srgbClr val="FFFFFF"/>
                </a:solidFill>
              </a:rPr>
              <a:t>How do you get and set attributes of an element using getAttribute and setAttribute?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Q13. </a:t>
            </a:r>
            <a:r>
              <a:rPr lang="en-US" sz="1100" dirty="0">
                <a:solidFill>
                  <a:srgbClr val="FFFFFF"/>
                </a:solidFill>
              </a:rPr>
              <a:t>Write code to dynamically build an HTML table from an array of objects.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Q14. </a:t>
            </a:r>
            <a:r>
              <a:rPr lang="en-US" sz="1100" dirty="0">
                <a:solidFill>
                  <a:srgbClr val="FFFFFF"/>
                </a:solidFill>
              </a:rPr>
              <a:t>What is event bubbling vs event capturing? How do you use capture mode?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Q15. </a:t>
            </a:r>
            <a:r>
              <a:rPr lang="en-US" sz="1100" dirty="0">
                <a:solidFill>
                  <a:srgbClr val="FFFFFF"/>
                </a:solidFill>
              </a:rPr>
              <a:t>How do you remove an element from the DOM? Show 2 methods.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📝 Practice Questions — Set 5 — DOM Manipulation (Q16–Q30)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Q16. </a:t>
            </a:r>
            <a:r>
              <a:rPr lang="en-US" sz="1100" dirty="0">
                <a:solidFill>
                  <a:srgbClr val="FFFFFF"/>
                </a:solidFill>
              </a:rPr>
              <a:t>What is the DOMContentLoaded event? When does it fire vs window.onload?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Q17. </a:t>
            </a:r>
            <a:r>
              <a:rPr lang="en-US" sz="1100" dirty="0">
                <a:solidFill>
                  <a:srgbClr val="FFFFFF"/>
                </a:solidFill>
              </a:rPr>
              <a:t>How do you read values from form input elements using JavaScript?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Q18. </a:t>
            </a:r>
            <a:r>
              <a:rPr lang="en-US" sz="1100" dirty="0">
                <a:solidFill>
                  <a:srgbClr val="FFFFFF"/>
                </a:solidFill>
              </a:rPr>
              <a:t>Write a live search filter that hides list items as user types.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Q19. </a:t>
            </a:r>
            <a:r>
              <a:rPr lang="en-US" sz="1100" dirty="0">
                <a:solidFill>
                  <a:srgbClr val="FFFFFF"/>
                </a:solidFill>
              </a:rPr>
              <a:t>What is dataset in DOM? How do you use data- attributes?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Q20. </a:t>
            </a:r>
            <a:r>
              <a:rPr lang="en-US" sz="1100" dirty="0">
                <a:solidFill>
                  <a:srgbClr val="FFFFFF"/>
                </a:solidFill>
              </a:rPr>
              <a:t>How do you use MutationObserver to watch for DOM changes?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Q21. </a:t>
            </a:r>
            <a:r>
              <a:rPr lang="en-US" sz="1100" dirty="0">
                <a:solidFill>
                  <a:srgbClr val="FFFFFF"/>
                </a:solidFill>
              </a:rPr>
              <a:t>What is document.createElement vs document.createTextNode?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Q22. </a:t>
            </a:r>
            <a:r>
              <a:rPr lang="en-US" sz="1100" dirty="0">
                <a:solidFill>
                  <a:srgbClr val="FFFFFF"/>
                </a:solidFill>
              </a:rPr>
              <a:t>Explain the difference between NodeList and HTMLCollection.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Q23. </a:t>
            </a:r>
            <a:r>
              <a:rPr lang="en-US" sz="1100" dirty="0">
                <a:solidFill>
                  <a:srgbClr val="FFFFFF"/>
                </a:solidFill>
              </a:rPr>
              <a:t>Write code to implement a simple modal popup with open and close buttons.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Q24. </a:t>
            </a:r>
            <a:r>
              <a:rPr lang="en-US" sz="1100" dirty="0">
                <a:solidFill>
                  <a:srgbClr val="FFFFFF"/>
                </a:solidFill>
              </a:rPr>
              <a:t>What is insertAdjacentHTML? Compare it to innerHTML.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Q25. </a:t>
            </a:r>
            <a:r>
              <a:rPr lang="en-US" sz="1100" dirty="0">
                <a:solidFill>
                  <a:srgbClr val="FFFFFF"/>
                </a:solidFill>
              </a:rPr>
              <a:t>How do you scroll to a specific element using JavaScript?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Q26. </a:t>
            </a:r>
            <a:r>
              <a:rPr lang="en-US" sz="1100" dirty="0">
                <a:solidFill>
                  <a:srgbClr val="FFFFFF"/>
                </a:solidFill>
              </a:rPr>
              <a:t>Write a character counter for a textarea using input event.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Q27. </a:t>
            </a:r>
            <a:r>
              <a:rPr lang="en-US" sz="1100" dirty="0">
                <a:solidFill>
                  <a:srgbClr val="FFFFFF"/>
                </a:solidFill>
              </a:rPr>
              <a:t>What is focus and blur event? Write real form UX using them.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Q28. </a:t>
            </a:r>
            <a:r>
              <a:rPr lang="en-US" sz="1100" dirty="0">
                <a:solidFill>
                  <a:srgbClr val="FFFFFF"/>
                </a:solidFill>
              </a:rPr>
              <a:t>Explain the difference between clientHeight, scrollHeight, and offsetHeight.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Q29. </a:t>
            </a:r>
            <a:r>
              <a:rPr lang="en-US" sz="1100" dirty="0">
                <a:solidFill>
                  <a:srgbClr val="FFFFFF"/>
                </a:solidFill>
              </a:rPr>
              <a:t>Write code that changes the background color of a div when mouse enters and leaves.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Q30. </a:t>
            </a:r>
            <a:r>
              <a:rPr lang="en-US" sz="1100" dirty="0">
                <a:solidFill>
                  <a:srgbClr val="FFFFFF"/>
                </a:solidFill>
              </a:rPr>
              <a:t>How do you implement drag and drop using JavaScript events?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6160" y="457200"/>
            <a:ext cx="2011680" cy="20116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566160" y="4572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6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Asynchronous JavaScript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A623"/>
                </a:solidFill>
              </a:rPr>
              <a:t>Callbacks • Promises • async/await • Fetch API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Understanding Asynchronous JavaScript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1. </a:t>
            </a:r>
            <a:r>
              <a:rPr lang="en-US" sz="1300" dirty="0">
                <a:solidFill>
                  <a:srgbClr val="FFFFFF"/>
                </a:solidFill>
              </a:rPr>
              <a:t>JavaScript is single-threaded — only one task runs at a time in the main thread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2. </a:t>
            </a:r>
            <a:r>
              <a:rPr lang="en-US" sz="1300" dirty="0">
                <a:solidFill>
                  <a:srgbClr val="FFFFFF"/>
                </a:solidFill>
              </a:rPr>
              <a:t>Async JS allows long-running tasks (API calls, file reads) without blocking UI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3. </a:t>
            </a:r>
            <a:r>
              <a:rPr lang="en-US" sz="1300" dirty="0">
                <a:solidFill>
                  <a:srgbClr val="FFFFFF"/>
                </a:solidFill>
              </a:rPr>
              <a:t>Event Loop: checks Call Stack; if empty, moves tasks from Queue to Stack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4. </a:t>
            </a:r>
            <a:r>
              <a:rPr lang="en-US" sz="1300" dirty="0">
                <a:solidFill>
                  <a:srgbClr val="FFFFFF"/>
                </a:solidFill>
              </a:rPr>
              <a:t>Callback Hell: nested callbacks create unreadable 'pyramid of doom' code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5. </a:t>
            </a:r>
            <a:r>
              <a:rPr lang="en-US" sz="1300" dirty="0">
                <a:solidFill>
                  <a:srgbClr val="FFFFFF"/>
                </a:solidFill>
              </a:rPr>
              <a:t>Promise: object representing future value — states: Pending, Fulfilled, Rejected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6. </a:t>
            </a:r>
            <a:r>
              <a:rPr lang="en-US" sz="1300" dirty="0">
                <a:solidFill>
                  <a:srgbClr val="FFFFFF"/>
                </a:solidFill>
              </a:rPr>
              <a:t>Promise chaining: .then() for success, .catch() for errors, .finally() always runs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7. </a:t>
            </a:r>
            <a:r>
              <a:rPr lang="en-US" sz="1300" dirty="0">
                <a:solidFill>
                  <a:srgbClr val="FFFFFF"/>
                </a:solidFill>
              </a:rPr>
              <a:t>async/await (ES2017): syntactic sugar over Promises, makes async code look synchronous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8. </a:t>
            </a:r>
            <a:r>
              <a:rPr lang="en-US" sz="1300" dirty="0">
                <a:solidFill>
                  <a:srgbClr val="FFFFFF"/>
                </a:solidFill>
              </a:rPr>
              <a:t>Fetch API: modern way to make HTTP requests; returns a Promise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9. </a:t>
            </a:r>
            <a:r>
              <a:rPr lang="en-US" sz="1300" dirty="0">
                <a:solidFill>
                  <a:srgbClr val="FFFFFF"/>
                </a:solidFill>
              </a:rPr>
              <a:t>Promise.all([]) — runs all promises in parallel, fails if any fails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10. </a:t>
            </a:r>
            <a:r>
              <a:rPr lang="en-US" sz="1300" dirty="0">
                <a:solidFill>
                  <a:srgbClr val="FFFFFF"/>
                </a:solidFill>
              </a:rPr>
              <a:t>Promise.allSettled([]) — runs all, returns result of each (never fails)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⚡ Promises &amp; async/await — Real API Call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</a:rPr>
              <a:t>Fetching user data from an API — promise vs async/await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5440680" cy="3383280"/>
          </a:xfrm>
          <a:prstGeom prst="roundRect">
            <a:avLst>
              <a:gd name="adj" fmla="val 189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78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4D56"/>
                </a:solidFill>
              </a:rPr>
              <a:t>// Code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5166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Using Promise ─────────────────────────────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getUser(id)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fetch(`https://jsonplaceholder.typicode.com/users/${id}`)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.then(res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(!res.ok) throw new Error("User not found");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res.json();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.then(user =&gt; ({ name: user.name, email: user.email }))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.catch(err =&gt; console.error("Error:", err.message));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Using async/await ─────────────────────────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getUserAsync(id)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 = await fetch(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`https://jsonplaceholder.typicode.com/users/${id}`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(!res.ok) throw new Error("Not found");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user = await res.json();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 name: user.name, email: user.email 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console.error("Error:", err.message);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null;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Parallel requests ─────────────────────────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getMultipleUsers()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ids = [1, 2, 3];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users = await Promise.all(ids.map(id =&gt; getUserAsync(id)));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users.forEach(u =&gt; console.log(u.name));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getMultipleUsers();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06440" y="1005840"/>
            <a:ext cx="3154680" cy="3383280"/>
          </a:xfrm>
          <a:prstGeom prst="roundRect">
            <a:avLst>
              <a:gd name="adj" fmla="val 2029"/>
            </a:avLst>
          </a:prstGeom>
          <a:solidFill>
            <a:srgbClr val="0D2137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07899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</a:rPr>
              <a:t>▶ OUTPUT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371600"/>
            <a:ext cx="2880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Leanne Graham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Ervin Howell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Clementine Bauch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(All 3 fetched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simultaneously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with Promise.all)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handling: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.catch() in chains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try/catch 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async/await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Network errors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auto-caught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📝 Practice Questions — Set 6 — Asynchronous JavaScript (Q1–Q15)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Q1. </a:t>
            </a:r>
            <a:r>
              <a:rPr lang="en-US" sz="1100" dirty="0">
                <a:solidFill>
                  <a:srgbClr val="FFFFFF"/>
                </a:solidFill>
              </a:rPr>
              <a:t>What is the Event Loop? Explain with a simple setTimeout example.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Q2. </a:t>
            </a:r>
            <a:r>
              <a:rPr lang="en-US" sz="1100" dirty="0">
                <a:solidFill>
                  <a:srgbClr val="FFFFFF"/>
                </a:solidFill>
              </a:rPr>
              <a:t>What is callback hell? Rewrite a nested callback example using Promises.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Q3. </a:t>
            </a:r>
            <a:r>
              <a:rPr lang="en-US" sz="1100" dirty="0">
                <a:solidFill>
                  <a:srgbClr val="FFFFFF"/>
                </a:solidFill>
              </a:rPr>
              <a:t>What are the three states of a Promise? Explain Pending, Fulfilled, Rejected.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Q4. </a:t>
            </a:r>
            <a:r>
              <a:rPr lang="en-US" sz="1100" dirty="0">
                <a:solidFill>
                  <a:srgbClr val="FFFFFF"/>
                </a:solidFill>
              </a:rPr>
              <a:t>What is the difference between Promise.all() and Promise.allSettled()?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Q5. </a:t>
            </a:r>
            <a:r>
              <a:rPr lang="en-US" sz="1100" dirty="0">
                <a:solidFill>
                  <a:srgbClr val="FFFFFF"/>
                </a:solidFill>
              </a:rPr>
              <a:t>How does async/await work? How does it relate to Promises underneath?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Q6. </a:t>
            </a:r>
            <a:r>
              <a:rPr lang="en-US" sz="1100" dirty="0">
                <a:solidFill>
                  <a:srgbClr val="FFFFFF"/>
                </a:solidFill>
              </a:rPr>
              <a:t>Write an async function that fetches data from a public API and handles errors.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Q7. </a:t>
            </a:r>
            <a:r>
              <a:rPr lang="en-US" sz="1100" dirty="0">
                <a:solidFill>
                  <a:srgbClr val="FFFFFF"/>
                </a:solidFill>
              </a:rPr>
              <a:t>What is the Fetch API? How is it different from XMLHttpRequest?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Q8. </a:t>
            </a:r>
            <a:r>
              <a:rPr lang="en-US" sz="1100" dirty="0">
                <a:solidFill>
                  <a:srgbClr val="FFFFFF"/>
                </a:solidFill>
              </a:rPr>
              <a:t>What is the difference between .then() chaining and async/await?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Q9. </a:t>
            </a:r>
            <a:r>
              <a:rPr lang="en-US" sz="1100" dirty="0">
                <a:solidFill>
                  <a:srgbClr val="FFFFFF"/>
                </a:solidFill>
              </a:rPr>
              <a:t>What does Promise.race() do? Give a real use case (timeout pattern).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Q10. </a:t>
            </a:r>
            <a:r>
              <a:rPr lang="en-US" sz="1100" dirty="0">
                <a:solidFill>
                  <a:srgbClr val="FFFFFF"/>
                </a:solidFill>
              </a:rPr>
              <a:t>Explain the difference between synchronous and asynchronous error handling.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Q11. </a:t>
            </a:r>
            <a:r>
              <a:rPr lang="en-US" sz="1100" dirty="0">
                <a:solidFill>
                  <a:srgbClr val="FFFFFF"/>
                </a:solidFill>
              </a:rPr>
              <a:t>What is the microtask queue? How does it differ from the macrotask queue?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Q12. </a:t>
            </a:r>
            <a:r>
              <a:rPr lang="en-US" sz="1100" dirty="0">
                <a:solidFill>
                  <a:srgbClr val="FFFFFF"/>
                </a:solidFill>
              </a:rPr>
              <a:t>Write code using setTimeout and Promises to create a sleep() function.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Q13. </a:t>
            </a:r>
            <a:r>
              <a:rPr lang="en-US" sz="1100" dirty="0">
                <a:solidFill>
                  <a:srgbClr val="FFFFFF"/>
                </a:solidFill>
              </a:rPr>
              <a:t>What is Promise.any()? How does it differ from Promise.race()?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Q14. </a:t>
            </a:r>
            <a:r>
              <a:rPr lang="en-US" sz="1100" dirty="0">
                <a:solidFill>
                  <a:srgbClr val="FFFFFF"/>
                </a:solidFill>
              </a:rPr>
              <a:t>Explain the order of execution: console.log, setTimeout, Promise.resolve.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Q15. </a:t>
            </a:r>
            <a:r>
              <a:rPr lang="en-US" sz="1100" dirty="0">
                <a:solidFill>
                  <a:srgbClr val="FFFFFF"/>
                </a:solidFill>
              </a:rPr>
              <a:t>What is a callback function in async context? Give XMLHttpRequest example.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📝 Practice Questions — Set 6 — Asynchronous JavaScript (Q16–Q30)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Q16. </a:t>
            </a:r>
            <a:r>
              <a:rPr lang="en-US" sz="1100" dirty="0">
                <a:solidFill>
                  <a:srgbClr val="FFFFFF"/>
                </a:solidFill>
              </a:rPr>
              <a:t>Write a function that retries a failed API call up to 3 times with delay.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Q17. </a:t>
            </a:r>
            <a:r>
              <a:rPr lang="en-US" sz="1100" dirty="0">
                <a:solidFill>
                  <a:srgbClr val="FFFFFF"/>
                </a:solidFill>
              </a:rPr>
              <a:t>What is async iteration? Explain for await...of with an example.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Q18. </a:t>
            </a:r>
            <a:r>
              <a:rPr lang="en-US" sz="1100" dirty="0">
                <a:solidFill>
                  <a:srgbClr val="FFFFFF"/>
                </a:solidFill>
              </a:rPr>
              <a:t>How do you convert a callback-based function to return a Promise?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Q19. </a:t>
            </a:r>
            <a:r>
              <a:rPr lang="en-US" sz="1100" dirty="0">
                <a:solidFill>
                  <a:srgbClr val="FFFFFF"/>
                </a:solidFill>
              </a:rPr>
              <a:t>Explain what happens when you await a non-Promise value.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Q20. </a:t>
            </a:r>
            <a:r>
              <a:rPr lang="en-US" sz="1100" dirty="0">
                <a:solidFill>
                  <a:srgbClr val="FFFFFF"/>
                </a:solidFill>
              </a:rPr>
              <a:t>What is the difference between throw in async function and return Promise.reject()?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Q21. </a:t>
            </a:r>
            <a:r>
              <a:rPr lang="en-US" sz="1100" dirty="0">
                <a:solidFill>
                  <a:srgbClr val="FFFFFF"/>
                </a:solidFill>
              </a:rPr>
              <a:t>Write code to fetch data from multiple APIs and merge the results.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Q22. </a:t>
            </a:r>
            <a:r>
              <a:rPr lang="en-US" sz="1100" dirty="0">
                <a:solidFill>
                  <a:srgbClr val="FFFFFF"/>
                </a:solidFill>
              </a:rPr>
              <a:t>What is AbortController? How do you cancel a fetch request?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Q23. </a:t>
            </a:r>
            <a:r>
              <a:rPr lang="en-US" sz="1100" dirty="0">
                <a:solidFill>
                  <a:srgbClr val="FFFFFF"/>
                </a:solidFill>
              </a:rPr>
              <a:t>Explain the try/catch/finally pattern in async functions.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Q24. </a:t>
            </a:r>
            <a:r>
              <a:rPr lang="en-US" sz="1100" dirty="0">
                <a:solidFill>
                  <a:srgbClr val="FFFFFF"/>
                </a:solidFill>
              </a:rPr>
              <a:t>What will be the output order: setTimeout(fn,0), Promise.resolve().then(fn), console.log()?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Q25. </a:t>
            </a:r>
            <a:r>
              <a:rPr lang="en-US" sz="1100" dirty="0">
                <a:solidFill>
                  <a:srgbClr val="FFFFFF"/>
                </a:solidFill>
              </a:rPr>
              <a:t>What is a race condition in async code? How do you prevent it?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Q26. </a:t>
            </a:r>
            <a:r>
              <a:rPr lang="en-US" sz="1100" dirty="0">
                <a:solidFill>
                  <a:srgbClr val="FFFFFF"/>
                </a:solidFill>
              </a:rPr>
              <a:t>Write code that loads 3 images in sequence, then in parallel, comparing time.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Q27. </a:t>
            </a:r>
            <a:r>
              <a:rPr lang="en-US" sz="1100" dirty="0">
                <a:solidFill>
                  <a:srgbClr val="FFFFFF"/>
                </a:solidFill>
              </a:rPr>
              <a:t>What is the difference between async IIFE and regular async function?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Q28. </a:t>
            </a:r>
            <a:r>
              <a:rPr lang="en-US" sz="1100" dirty="0">
                <a:solidFill>
                  <a:srgbClr val="FFFFFF"/>
                </a:solidFill>
              </a:rPr>
              <a:t>Explain Promise chaining: what does the return value of .then() become?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Q29. </a:t>
            </a:r>
            <a:r>
              <a:rPr lang="en-US" sz="1100" dirty="0">
                <a:solidFill>
                  <a:srgbClr val="FFFFFF"/>
                </a:solidFill>
              </a:rPr>
              <a:t>What is unhandledRejection? How do you globally handle Promise errors?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Q30. </a:t>
            </a:r>
            <a:r>
              <a:rPr lang="en-US" sz="1100" dirty="0">
                <a:solidFill>
                  <a:srgbClr val="FFFFFF"/>
                </a:solidFill>
              </a:rPr>
              <a:t>Write a caching layer for API calls using Map and async/await.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6160" y="457200"/>
            <a:ext cx="2011680" cy="20116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566160" y="4572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7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Modern JavaScript (ES6+)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A623"/>
                </a:solidFill>
              </a:rPr>
              <a:t>Classes • Modules • Destructuring • Symbol • Proxy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⚡ ES6 Classes — OOP in JavaScript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</a:rPr>
              <a:t>Building a real Employee management system with classes and inheritance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5440680" cy="3383280"/>
          </a:xfrm>
          <a:prstGeom prst="roundRect">
            <a:avLst>
              <a:gd name="adj" fmla="val 189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78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4D56"/>
                </a:solidFill>
              </a:rPr>
              <a:t>// Code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5166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Base class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Employee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#salary;  // private field (ES2022)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constructor(name, dept, salary)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this.name = name;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this.dept = dept;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this.#salary = salary;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getSalary() { return this.#salary;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getInfo()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`${this.name} | ${this.dept} | ₹${this.#salary}`;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fromObject(obj)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new Employee(obj.name, obj.dept, obj.salary);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Inheritance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Manager extends Employee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constructor(name, dept, salary, teamSize)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super(name, dept, salary);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this.teamSize = teamSize;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getInfo()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super.getInfo() + ` | Team: ${this.teamSize}`;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e1 = new Employee("Ravi", "Dev", 65000);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m1 = new Manager("Sunita", "Dev", 120000, 8);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console.log(e1.getInfo());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console.log(m1.getInfo());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console.log(e1 instanceof Employee); // true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console.log(m1 instanceof Employee); // true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06440" y="1005840"/>
            <a:ext cx="3154680" cy="3383280"/>
          </a:xfrm>
          <a:prstGeom prst="roundRect">
            <a:avLst>
              <a:gd name="adj" fmla="val 2029"/>
            </a:avLst>
          </a:prstGeom>
          <a:solidFill>
            <a:srgbClr val="0D2137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07899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</a:rPr>
              <a:t>▶ OUTPUT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371600"/>
            <a:ext cx="2880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"Ravi | Dev |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₹65000"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"Sunita | Dev |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₹120000 |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Team: 8"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field #salary: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 be accessed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outside the class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e1.#salary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gives SyntaxError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⚡ ES6 Modules, Destructuring &amp; More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</a:rPr>
              <a:t>Modern JavaScript features used in real front-end development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5440680" cy="3383280"/>
          </a:xfrm>
          <a:prstGeom prst="roundRect">
            <a:avLst>
              <a:gd name="adj" fmla="val 189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78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4D56"/>
                </a:solidFill>
              </a:rPr>
              <a:t>// Code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5166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Named &amp; Default Exports ─────────────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utils.js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formatCurrency = (n) =&gt;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Intl.NumberFormat('en-IN',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style:'currency', currency:'INR'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}).format(n);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logger(msg)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console.log(`[LOG]: ${msg}`);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logger, { formatCurrency } from './utils.js';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Advanced Destructuring ────────────────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[first, , third, ...rest] = [10,20,30,40,50];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console.log(first, third, rest); // 10 30 [40,50]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name: empName = "Unknown",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address: { city = "N/A" } = {} } = {};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console.log(empName, city); // "Unknown" "N/A"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Tagged Template Literals ──────────────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highlight(strings, ...vals)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strings.reduce((res, str, i) =&gt;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 + str + (vals[i] ? `[${vals[i]}]` : ""), "");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 = "Anita", score = 98;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console.log(highlight`${user} scored ${score}!`);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Symbol ───────────────────────────────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ID = Symbol("userID");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obj = { [ID]: 101, name: "Raj" 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console.log(obj[ID]);        // 101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console.log(Object.keys(obj)); // ["name"]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06440" y="1005840"/>
            <a:ext cx="3154680" cy="3383280"/>
          </a:xfrm>
          <a:prstGeom prst="roundRect">
            <a:avLst>
              <a:gd name="adj" fmla="val 2029"/>
            </a:avLst>
          </a:prstGeom>
          <a:solidFill>
            <a:srgbClr val="0D2137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07899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</a:rPr>
              <a:t>▶ OUTPUT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371600"/>
            <a:ext cx="2880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30 [40, 50]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"Unknown" "N/A"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"[Anita] scored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[98]!"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["name"]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(Symbol hidden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from Object.keys)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📝 Practice Questions — Set 7 — Modern JavaScript (ES6+) (Q1–Q15)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Q1. </a:t>
            </a:r>
            <a:r>
              <a:rPr lang="en-US" sz="1100" dirty="0">
                <a:solidFill>
                  <a:srgbClr val="FFFFFF"/>
                </a:solidFill>
              </a:rPr>
              <a:t>What is a JavaScript class? How does it differ from constructor functions?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Q2. </a:t>
            </a:r>
            <a:r>
              <a:rPr lang="en-US" sz="1100" dirty="0">
                <a:solidFill>
                  <a:srgbClr val="FFFFFF"/>
                </a:solidFill>
              </a:rPr>
              <a:t>What is inheritance in JS classes? Explain super() with an example.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Q3. </a:t>
            </a:r>
            <a:r>
              <a:rPr lang="en-US" sz="1100" dirty="0">
                <a:solidFill>
                  <a:srgbClr val="FFFFFF"/>
                </a:solidFill>
              </a:rPr>
              <a:t>What are private class fields (#)? How do they enforce encapsulation?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Q4. </a:t>
            </a:r>
            <a:r>
              <a:rPr lang="en-US" sz="1100" dirty="0">
                <a:solidFill>
                  <a:srgbClr val="FFFFFF"/>
                </a:solidFill>
              </a:rPr>
              <a:t>What is a static method? When would you use it?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Q5. </a:t>
            </a:r>
            <a:r>
              <a:rPr lang="en-US" sz="1100" dirty="0">
                <a:solidFill>
                  <a:srgbClr val="FFFFFF"/>
                </a:solidFill>
              </a:rPr>
              <a:t>Explain ES6 module system — export vs export default vs named exports.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Q6. </a:t>
            </a:r>
            <a:r>
              <a:rPr lang="en-US" sz="1100" dirty="0">
                <a:solidFill>
                  <a:srgbClr val="FFFFFF"/>
                </a:solidFill>
              </a:rPr>
              <a:t>How does import work? What is dynamic import() (lazy loading)?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Q7. </a:t>
            </a:r>
            <a:r>
              <a:rPr lang="en-US" sz="1100" dirty="0">
                <a:solidFill>
                  <a:srgbClr val="FFFFFF"/>
                </a:solidFill>
              </a:rPr>
              <a:t>What are template literals? Show 3 advanced use cases.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Q8. </a:t>
            </a:r>
            <a:r>
              <a:rPr lang="en-US" sz="1100" dirty="0">
                <a:solidFill>
                  <a:srgbClr val="FFFFFF"/>
                </a:solidFill>
              </a:rPr>
              <a:t>What are tagged template literals? Write a custom tag function.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Q9. </a:t>
            </a:r>
            <a:r>
              <a:rPr lang="en-US" sz="1100" dirty="0">
                <a:solidFill>
                  <a:srgbClr val="FFFFFF"/>
                </a:solidFill>
              </a:rPr>
              <a:t>Explain advanced destructuring: nested, default values, renaming, rest.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Q10. </a:t>
            </a:r>
            <a:r>
              <a:rPr lang="en-US" sz="1100" dirty="0">
                <a:solidFill>
                  <a:srgbClr val="FFFFFF"/>
                </a:solidFill>
              </a:rPr>
              <a:t>What is the spread operator? Show 4 different use cases with arrays and objects.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Q11. </a:t>
            </a:r>
            <a:r>
              <a:rPr lang="en-US" sz="1100" dirty="0">
                <a:solidFill>
                  <a:srgbClr val="FFFFFF"/>
                </a:solidFill>
              </a:rPr>
              <a:t>What is Symbol? Why is it used as object keys?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Q12. </a:t>
            </a:r>
            <a:r>
              <a:rPr lang="en-US" sz="1100" dirty="0">
                <a:solidFill>
                  <a:srgbClr val="FFFFFF"/>
                </a:solidFill>
              </a:rPr>
              <a:t>What is a Proxy? Write a validation proxy for an object.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Q13. </a:t>
            </a:r>
            <a:r>
              <a:rPr lang="en-US" sz="1100" dirty="0">
                <a:solidFill>
                  <a:srgbClr val="FFFFFF"/>
                </a:solidFill>
              </a:rPr>
              <a:t>What is Reflect API? How is it used with Proxy?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Q14. </a:t>
            </a:r>
            <a:r>
              <a:rPr lang="en-US" sz="1100" dirty="0">
                <a:solidFill>
                  <a:srgbClr val="FFFFFF"/>
                </a:solidFill>
              </a:rPr>
              <a:t>Explain WeakMap and WeakSet — how are they different from Map and Set?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Q15. </a:t>
            </a:r>
            <a:r>
              <a:rPr lang="en-US" sz="1100" dirty="0">
                <a:solidFill>
                  <a:srgbClr val="FFFFFF"/>
                </a:solidFill>
              </a:rPr>
              <a:t>What is the nullish coalescing assignment (??=) operator?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📝 Practice Questions — Set 7 — Modern JavaScript (ES6+) (Q16–Q30)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Q16. </a:t>
            </a:r>
            <a:r>
              <a:rPr lang="en-US" sz="1100" dirty="0">
                <a:solidFill>
                  <a:srgbClr val="FFFFFF"/>
                </a:solidFill>
              </a:rPr>
              <a:t>What is optional chaining with method calls: obj?.method()?.value?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Q17. </a:t>
            </a:r>
            <a:r>
              <a:rPr lang="en-US" sz="1100" dirty="0">
                <a:solidFill>
                  <a:srgbClr val="FFFFFF"/>
                </a:solidFill>
              </a:rPr>
              <a:t>Explain the class getter and setter syntax with a real example.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Q18. </a:t>
            </a:r>
            <a:r>
              <a:rPr lang="en-US" sz="1100" dirty="0">
                <a:solidFill>
                  <a:srgbClr val="FFFFFF"/>
                </a:solidFill>
              </a:rPr>
              <a:t>What is mixins pattern in JavaScript? Implement a real example.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Q19. </a:t>
            </a:r>
            <a:r>
              <a:rPr lang="en-US" sz="1100" dirty="0">
                <a:solidFill>
                  <a:srgbClr val="FFFFFF"/>
                </a:solidFill>
              </a:rPr>
              <a:t>What is the difference between class fields and constructor assignments?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Q20. </a:t>
            </a:r>
            <a:r>
              <a:rPr lang="en-US" sz="1100" dirty="0">
                <a:solidFill>
                  <a:srgbClr val="FFFFFF"/>
                </a:solidFill>
              </a:rPr>
              <a:t>Explain Object.getPrototypeOf() and prototype chain.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Q21. </a:t>
            </a:r>
            <a:r>
              <a:rPr lang="en-US" sz="1100" dirty="0">
                <a:solidFill>
                  <a:srgbClr val="FFFFFF"/>
                </a:solidFill>
              </a:rPr>
              <a:t>What are iterators and iterables? Implement a custom iterable range.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Q22. </a:t>
            </a:r>
            <a:r>
              <a:rPr lang="en-US" sz="1100" dirty="0">
                <a:solidFill>
                  <a:srgbClr val="FFFFFF"/>
                </a:solidFill>
              </a:rPr>
              <a:t>What is a generator? Write one that generates paginated API requests.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Q23. </a:t>
            </a:r>
            <a:r>
              <a:rPr lang="en-US" sz="1100" dirty="0">
                <a:solidFill>
                  <a:srgbClr val="FFFFFF"/>
                </a:solidFill>
              </a:rPr>
              <a:t>What is the Symbol.iterator used for? How do you make an object iterable?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Q24. </a:t>
            </a:r>
            <a:r>
              <a:rPr lang="en-US" sz="1100" dirty="0">
                <a:solidFill>
                  <a:srgbClr val="FFFFFF"/>
                </a:solidFill>
              </a:rPr>
              <a:t>Explain the difference between prototype-based and class-based inheritance.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Q25. </a:t>
            </a:r>
            <a:r>
              <a:rPr lang="en-US" sz="1100" dirty="0">
                <a:solidFill>
                  <a:srgbClr val="FFFFFF"/>
                </a:solidFill>
              </a:rPr>
              <a:t>What is the hasOwnProperty() method? When to use it vs 'in' operator?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Q26. </a:t>
            </a:r>
            <a:r>
              <a:rPr lang="en-US" sz="1100" dirty="0">
                <a:solidFill>
                  <a:srgbClr val="FFFFFF"/>
                </a:solidFill>
              </a:rPr>
              <a:t>Write an ES6 class for a Stack data structure with push, pop, peek.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Q27. </a:t>
            </a:r>
            <a:r>
              <a:rPr lang="en-US" sz="1100" dirty="0">
                <a:solidFill>
                  <a:srgbClr val="FFFFFF"/>
                </a:solidFill>
              </a:rPr>
              <a:t>What is method chaining? Write a fluent API using ES6 class.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Q28. </a:t>
            </a:r>
            <a:r>
              <a:rPr lang="en-US" sz="1100" dirty="0">
                <a:solidFill>
                  <a:srgbClr val="FFFFFF"/>
                </a:solidFill>
              </a:rPr>
              <a:t>What is the difference between for...in and Object.keys() for class instances?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Q29. </a:t>
            </a:r>
            <a:r>
              <a:rPr lang="en-US" sz="1100" dirty="0">
                <a:solidFill>
                  <a:srgbClr val="FFFFFF"/>
                </a:solidFill>
              </a:rPr>
              <a:t>What is toString() and valueOf() and how do you override them?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5A623"/>
                </a:solidFill>
              </a:rPr>
              <a:t>Q30. </a:t>
            </a:r>
            <a:r>
              <a:rPr lang="en-US" sz="1100" dirty="0">
                <a:solidFill>
                  <a:srgbClr val="FFFFFF"/>
                </a:solidFill>
              </a:rPr>
              <a:t>Explain the Singleton pattern implemented using ES6 class and static.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🎉 You've Covered It All!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A623"/>
                </a:solidFill>
              </a:rPr>
              <a:t>7 Units  •  210 Practice Questions  •  Real-World Examples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24028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✅ Unit 1 — Introduction, Variables, Data Types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F5A623"/>
                </a:solidFill>
              </a:rPr>
              <a:t>✅ Unit 2 — Operators &amp; Control Flow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✅ Unit 3 — Functions, Closures, Callbacks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F5A623"/>
                </a:solidFill>
              </a:rPr>
              <a:t>✅ Unit 4 — Arrays &amp; Objects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✅ Unit 5 — DOM Manipulation &amp; Events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F5A623"/>
                </a:solidFill>
              </a:rPr>
              <a:t>✅ Unit 6 — Asynchronous JS, Promises, Fetch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✅ Unit 7 — Modern JS (ES6+, Classes, Modules)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8857</Words>
  <Application>Microsoft Office PowerPoint</Application>
  <PresentationFormat>On-screen Show (16:9)</PresentationFormat>
  <Paragraphs>1090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Complete Notes</dc:title>
  <dc:subject>PptxGenJS Presentation</dc:subject>
  <dc:creator>JavaScript Course</dc:creator>
  <cp:lastModifiedBy>Vaibhav Kumar</cp:lastModifiedBy>
  <cp:revision>2</cp:revision>
  <dcterms:created xsi:type="dcterms:W3CDTF">2026-06-25T04:09:24Z</dcterms:created>
  <dcterms:modified xsi:type="dcterms:W3CDTF">2026-06-25T04:23:41Z</dcterms:modified>
</cp:coreProperties>
</file>